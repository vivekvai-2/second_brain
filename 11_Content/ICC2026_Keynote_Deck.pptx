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Acknowledge the Vice-Chancellor, Dean, and organising committee. State that this address covers two things the audience cares about: how AI is changing legal work, and where the jobs are. 3 minutes for opening hook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Open with the judgment. Read the quote slowly. Then walk through the broken chain — AI generated a fake citation, lawyer filed without checking, court relied on it, precedent didn't exist, decision vacated. Pause. Then: 'This ruling did not ban AI from legal practice. It made governance the price of admission.' TIMING: 3 min total for slides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'The old entry-level pyramid — research, summarisation, DD checklists, template drafting — is being compressed by AI. The new pyramid is verification, exception identification, risk classification, regulatory interpretation, evidence design. The base of the new pyramid is wider because the verification burden is larger, not smaller.' KEY POINT: AI did not eliminate the junior role. It changed what the junior role produces.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Walk through the chain left to right. 'AI produces the output. But who checks if processing is lawful? Who verifies the output is correct? Who authorised deployment? Who builds the evidence trail for the regulator?' Pause. 'Steps 2 through 5 require legal training. Engineers build step 1. You govern steps 2 through 5.' TIMING: Part of the 4-min 'What Changed'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'Take a single financial-services platform — it offers banking, investment and insurance products through an AI assistant. That one system simultaneously sits under DPDP consent obligations, CERT-In incident reporting, RBI outsourcing governance, SEBI algorithmic audit requirements, professional liability under the SC ruling, and contractual obligations with the model provider.' Walk through each box. 'Each of these six governance regimes generates compliance work. That compliance work is a job. And each job requires someone who understands authority, obligation and evidence — which is what a legal education produces.' TIMING: Part of 5-min India regulatory map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'This is the Regulatory Parallelism problem from my doctoral research. Across 18 binding instruments, I found 23 instances where regulators impose functionally equivalent mandates independently — without referencing each other. Each overlap generates compliance work. Each compliance obligation is a governance function. Each governance function is a job.' KEY DATA: 450 requirement units extracted from 492 pages; 91 AI-relevant units; 48 functionally parallel across RBI-SEBI corpus. TIMING: Part of 5-min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Walk the timeline left to right. 'DPDP Rules were notified November 2025 — this is live law, not a proposal. The SC draft AI Regulations came in June 2026 — still in consultation, not binding, but they signal where the judiciary is heading. The hallucination judgment in July 2026 is already binding. DPDP Phase 2 arrives November 2026 with Consent Managers. And Phase 3 — full enforcement, penalties up to 250 crore — arrives May 2027. That is less than 12 months from today.' TIMING: End of 5-min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Three numbers, no elaboration needed. Read each card. Wolters Kluwer precise wording: 'at least one AI tool in their daily workflow' — do not simplify to 'all legal professionals use AI daily.' Optional reference: A&amp;O Shearman entered a revenue-sharing arrangement with Harvey — a law firm becoming an AI product company.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'Most law students think of employment as law firms. The reality is three territories, not one. Territory A is legal practice — firms and corporate legal departments. Territory B is the enterprise world — GCCs, legal tech companies, and consulting firms. Territory C is public institutions — courts, regulators, government digital programmes. All three now require AI governance capability.' Transition: 'Let me walk you through each.' TIMING: Intro to 9-min career markets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Two-card layout. Left: law firms. Right: corporate legal. Key hiring signal for law firms: '86% of large firms are increasing associate headcount — but only 35% are growing first-year classes. Translation: they want fewer juniors who can do more, faster.' For corporate legal: 'These are not law-firm jobs. These are in-house roles in banks, IT companies, manufacturing firms.' TIMING: ~3 min within 9-min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'The number most law students have never heard: approximately 2,100 GCCs in India, 2.36 million employees. Nearly two-thirds of new recruitment is associated with AI-related capability requirements. Chennai is a major GCC hub — these employers are in your city.' Legal tech: 'These companies need domain specialists who understand law well enough to design, test, and evaluate legal AI products. Not coding — domain expertise.' Consulting: 'Deloitte and BCG are now among the top recruiters at NLUs. DPDP Phase 3 enforcement in May 2027 will create a compliance consulting surge.' TIMING: ~3 min within 9-min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Brief — 2 min max. Three cards. 'e-Courts Phase III has a 7,210 crore budget. The Data Protection Board needs staff for Phase 3 enforcement. DPI governance programmes across Aadhaar, UPI, and Account Aggregator need policy analysts.' Close with: 'Slower career path — but sovereign-critical work.' TIMING: ~2 min, end of 9-min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Walk from the bottom. 'Tier 1 is what you have by graduation — statutory interpretation, case analysis, legal writing. This does not disappear. It becomes the verification layer that makes you valuable. Tier 2 is AI fluency — not coding, but working with AI critically. The SC’s zero-tolerance ruling makes hallucination detection a professional survival skill. Tier 3 is governance craft — DPIA design, AI-use policy, vendor risk, regulatory mapping. This is your comparative advantage zone. Tier 4 is leadership — CPO, AI Ethics Lead, Board Advisory. That’s the 5-year horizon.' TIMING: ~3 min within 7-min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Walk through the four-step flow with the DPDP consent example. 'The regulation says obtain informed consent. The legal obligation says consent must be granular and revocable. The governance control is a consent management platform with an audit log. The evidence is a timestamped record of consent and revocation. This four-step translation — from requirement to evidence — is the work that AI governance professionals do every day. Legal education gives you a comparative advantage in interpreting authority, obligation, liability and evidence. That advantage becomes commercially valuable when you combine it with technological and organisational understanding.' TIMING: ~2 min within 7-min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'Five questions. Purpose: why does this AI system exist? People: who is accountable when it fails? Proof: can you show evidence to a regulator? Process: what happens when it goes wrong? Partner: who built it and what contractual controls exist? Each question is a governance function. Each function is a job. If you can answer these five questions for any AI system in any organisation, you are employable.' TIMING: ~1.5 min within 7-min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'This is how practitioners actually triage AI risk. Green: all Five Ps answered, documented, reviewed — deploy. Amber: gaps in one or two Ps, remediation plan exists — deploy with conditions and monitoring. Red: three or more Ps unanswered, no remediation plan — stop deployment.' KEY LINE: 'Learn to use this classification and you speak the language of every CISO, DPO and General Counsel in the country.' TIMING: ~1.5 min, end of 7-min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'This is the slide you should photograph. Three phases, thirty days each. Days 1–30: Understand — read the DPDP Act, study the SC draft regulations, take one introductory AI course, learn how hallucination works. Days 31–60: Apply — draft a mock AI-use policy, produce a simple DPIA, build a vendor questionnaire, do a Green–Amber–Red classification. Days 61–90: Demonstrate — combine your artefacts into a portfolio, present to faculty, publish one India-focused note, apply to employers across all three territories.' Pause. 'Low-cost, largely accessible, and possible without waiting for a curriculum revision.'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CUE: Return to the opening. 'The Supreme Court said decisions built on AI hallucination are no decision in the eyes of the law. That ruling did not eliminate AI from legal practice. It made governance the price of admission.' Read the closing statement slowly. Then: 'TNDALU is positioned to lead on this. Chennai is a GCC hub. Your co-location with computer-application students is a natural advantage. I would be happy to support the establishment of an AI Compliance Simulation Lab as an advisor.' Thank the audience. TIMING: 2 min. Offer to share slides and the 90-day action plan as a downloadable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731520" y="914400"/>
            <a:ext cx="768096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Techno-Legal Futures</a:t>
            </a:r>
            <a:endParaRPr lang="en-US" sz="4000" dirty="0"/>
          </a:p>
        </p:txBody>
      </p:sp>
      <p:sp>
        <p:nvSpPr>
          <p:cNvPr id="3" name="Text 1"/>
          <p:cNvSpPr/>
          <p:nvPr/>
        </p:nvSpPr>
        <p:spPr>
          <a:xfrm>
            <a:off x="731520" y="1737360"/>
            <a:ext cx="7680960" cy="548640"/>
          </a:xfrm>
          <a:prstGeom prst="rect">
            <a:avLst/>
          </a:prstGeom>
          <a:noFill/>
          <a:ln/>
        </p:spPr>
        <p:txBody>
          <a:bodyPr wrap="square" lIns="0" tIns="0" rIns="0" bIns="0" rtlCol="0" anchor="ctr"/>
          <a:lstStyle/>
          <a:p>
            <a:pPr algn="l" indent="0" marL="0">
              <a:buNone/>
            </a:pPr>
            <a:r>
              <a:rPr lang="en-US" sz="2200" dirty="0">
                <a:solidFill>
                  <a:srgbClr val="94A3B8"/>
                </a:solidFill>
                <a:latin typeface="Calibri" pitchFamily="34" charset="0"/>
                <a:ea typeface="Calibri" pitchFamily="34" charset="-122"/>
                <a:cs typeface="Calibri" pitchFamily="34" charset="-120"/>
              </a:rPr>
              <a:t>Where AI Governance Meets Career Strategy</a:t>
            </a:r>
            <a:endParaRPr lang="en-US" sz="2200" dirty="0"/>
          </a:p>
        </p:txBody>
      </p:sp>
      <p:sp>
        <p:nvSpPr>
          <p:cNvPr id="4" name="Shape 2"/>
          <p:cNvSpPr/>
          <p:nvPr/>
        </p:nvSpPr>
        <p:spPr>
          <a:xfrm>
            <a:off x="731520" y="2468880"/>
            <a:ext cx="1828800" cy="0"/>
          </a:xfrm>
          <a:prstGeom prst="line">
            <a:avLst/>
          </a:prstGeom>
          <a:noFill/>
          <a:ln w="25400">
            <a:solidFill>
              <a:srgbClr val="3B82F6"/>
            </a:solidFill>
            <a:prstDash val="solid"/>
          </a:ln>
        </p:spPr>
      </p:sp>
      <p:sp>
        <p:nvSpPr>
          <p:cNvPr id="5" name="Text 3"/>
          <p:cNvSpPr/>
          <p:nvPr/>
        </p:nvSpPr>
        <p:spPr>
          <a:xfrm>
            <a:off x="731520" y="2743200"/>
            <a:ext cx="7680960" cy="365760"/>
          </a:xfrm>
          <a:prstGeom prst="rect">
            <a:avLst/>
          </a:prstGeom>
          <a:noFill/>
          <a:ln/>
        </p:spPr>
        <p:txBody>
          <a:bodyPr wrap="square" lIns="0" tIns="0" rIns="0" bIns="0" rtlCol="0" anchor="ctr"/>
          <a:lstStyle/>
          <a:p>
            <a:pPr algn="l" indent="0" marL="0">
              <a:buNone/>
            </a:pPr>
            <a:r>
              <a:rPr lang="en-US" sz="1600" b="1" dirty="0">
                <a:solidFill>
                  <a:srgbClr val="E2E8F0"/>
                </a:solidFill>
                <a:latin typeface="Calibri" pitchFamily="34" charset="0"/>
                <a:ea typeface="Calibri" pitchFamily="34" charset="-122"/>
                <a:cs typeface="Calibri" pitchFamily="34" charset="-120"/>
              </a:rPr>
              <a:t>Col. Vivek Vaidyanathan</a:t>
            </a:r>
            <a:endParaRPr lang="en-US" sz="1600" dirty="0"/>
          </a:p>
        </p:txBody>
      </p:sp>
      <p:sp>
        <p:nvSpPr>
          <p:cNvPr id="6" name="Text 4"/>
          <p:cNvSpPr/>
          <p:nvPr/>
        </p:nvSpPr>
        <p:spPr>
          <a:xfrm>
            <a:off x="731520" y="3108960"/>
            <a:ext cx="7680960" cy="274320"/>
          </a:xfrm>
          <a:prstGeom prst="rect">
            <a:avLst/>
          </a:prstGeom>
          <a:noFill/>
          <a:ln/>
        </p:spPr>
        <p:txBody>
          <a:bodyPr wrap="square" lIns="0" tIns="0" rIns="0" bIns="0"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Head, Agnishodh · IIT Madras  |  FPM Candidate · IIM Indore</a:t>
            </a:r>
            <a:endParaRPr lang="en-US" sz="1200" dirty="0"/>
          </a:p>
        </p:txBody>
      </p:sp>
      <p:sp>
        <p:nvSpPr>
          <p:cNvPr id="7" name="Text 5"/>
          <p:cNvSpPr/>
          <p:nvPr/>
        </p:nvSpPr>
        <p:spPr>
          <a:xfrm>
            <a:off x="731520" y="4389120"/>
            <a:ext cx="7680960" cy="27432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ICC’2026  ·  Tamil Nadu Dr. Ambedkar Law University  ·  Chennai  ·  2–3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The Starting Point</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Supreme Court of India · July 2, 2026</a:t>
            </a:r>
            <a:endParaRPr lang="en-US" sz="1200" dirty="0"/>
          </a:p>
        </p:txBody>
      </p:sp>
      <p:sp>
        <p:nvSpPr>
          <p:cNvPr id="4" name="Shape 2"/>
          <p:cNvSpPr/>
          <p:nvPr/>
        </p:nvSpPr>
        <p:spPr>
          <a:xfrm>
            <a:off x="548640" y="1097280"/>
            <a:ext cx="8046720" cy="2194560"/>
          </a:xfrm>
          <a:prstGeom prst="roundRect">
            <a:avLst>
              <a:gd name="adj" fmla="val 3333"/>
            </a:avLst>
          </a:prstGeom>
          <a:solidFill>
            <a:srgbClr val="F3F4F6"/>
          </a:solidFill>
          <a:ln/>
          <a:effectLst>
            <a:outerShdw sx="100000" sy="100000" kx="0" ky="0" algn="bl" rotWithShape="0" blurRad="50800" dist="12700" dir="16200000">
              <a:srgbClr val="000000">
                <a:alpha val="8000"/>
              </a:srgbClr>
            </a:outerShdw>
          </a:effectLst>
        </p:spPr>
      </p:sp>
      <p:sp>
        <p:nvSpPr>
          <p:cNvPr id="5" name="Text 3"/>
          <p:cNvSpPr/>
          <p:nvPr/>
        </p:nvSpPr>
        <p:spPr>
          <a:xfrm>
            <a:off x="731520" y="1005840"/>
            <a:ext cx="457200" cy="640080"/>
          </a:xfrm>
          <a:prstGeom prst="rect">
            <a:avLst/>
          </a:prstGeom>
          <a:noFill/>
          <a:ln/>
        </p:spPr>
        <p:txBody>
          <a:bodyPr wrap="square" lIns="0" tIns="0" rIns="0" bIns="0" rtlCol="0" anchor="ctr"/>
          <a:lstStyle/>
          <a:p>
            <a:pPr indent="0" marL="0">
              <a:buNone/>
            </a:pPr>
            <a:r>
              <a:rPr lang="en-US" sz="4800" dirty="0">
                <a:solidFill>
                  <a:srgbClr val="B91C1C"/>
                </a:solidFill>
                <a:latin typeface="Cambria" pitchFamily="34" charset="0"/>
                <a:ea typeface="Cambria" pitchFamily="34" charset="-122"/>
                <a:cs typeface="Cambria" pitchFamily="34" charset="-120"/>
              </a:rPr>
              <a:t>"</a:t>
            </a:r>
            <a:endParaRPr lang="en-US" sz="4800" dirty="0"/>
          </a:p>
        </p:txBody>
      </p:sp>
      <p:sp>
        <p:nvSpPr>
          <p:cNvPr id="6" name="Text 4"/>
          <p:cNvSpPr/>
          <p:nvPr/>
        </p:nvSpPr>
        <p:spPr>
          <a:xfrm>
            <a:off x="1097280" y="1280160"/>
            <a:ext cx="7132320" cy="731520"/>
          </a:xfrm>
          <a:prstGeom prst="rect">
            <a:avLst/>
          </a:prstGeom>
          <a:noFill/>
          <a:ln/>
        </p:spPr>
        <p:txBody>
          <a:bodyPr wrap="square" lIns="0" tIns="0" rIns="0" bIns="0" rtlCol="0" anchor="ctr"/>
          <a:lstStyle/>
          <a:p>
            <a:pPr algn="l" indent="0" marL="0">
              <a:buNone/>
            </a:pPr>
            <a:r>
              <a:rPr lang="en-US" sz="2000" b="1" i="1" dirty="0">
                <a:solidFill>
                  <a:srgbClr val="1B2A4A"/>
                </a:solidFill>
                <a:latin typeface="Cambria" pitchFamily="34" charset="0"/>
                <a:ea typeface="Cambria" pitchFamily="34" charset="-122"/>
                <a:cs typeface="Cambria" pitchFamily="34" charset="-120"/>
              </a:rPr>
              <a:t>Decisions built on AI-generated hallucinations are no decision in the eyes of the law.</a:t>
            </a:r>
            <a:endParaRPr lang="en-US" sz="2000" dirty="0"/>
          </a:p>
        </p:txBody>
      </p:sp>
      <p:sp>
        <p:nvSpPr>
          <p:cNvPr id="7" name="Text 5"/>
          <p:cNvSpPr/>
          <p:nvPr/>
        </p:nvSpPr>
        <p:spPr>
          <a:xfrm>
            <a:off x="1097280" y="2103120"/>
            <a:ext cx="7132320"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SL Infra v. Essel Infraprojects Ltd. — Supreme Court of India, 2 July 2026</a:t>
            </a:r>
            <a:endParaRPr lang="en-US" sz="1100" dirty="0"/>
          </a:p>
        </p:txBody>
      </p:sp>
      <p:sp>
        <p:nvSpPr>
          <p:cNvPr id="8" name="Text 6"/>
          <p:cNvSpPr/>
          <p:nvPr/>
        </p:nvSpPr>
        <p:spPr>
          <a:xfrm>
            <a:off x="548640" y="2743200"/>
            <a:ext cx="182880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What happened:</a:t>
            </a:r>
            <a:endParaRPr lang="en-US" sz="1100" dirty="0"/>
          </a:p>
        </p:txBody>
      </p:sp>
      <p:sp>
        <p:nvSpPr>
          <p:cNvPr id="9" name="Shape 7"/>
          <p:cNvSpPr/>
          <p:nvPr/>
        </p:nvSpPr>
        <p:spPr>
          <a:xfrm>
            <a:off x="548640" y="3566160"/>
            <a:ext cx="1463040" cy="731520"/>
          </a:xfrm>
          <a:prstGeom prst="roundRect">
            <a:avLst>
              <a:gd name="adj" fmla="val 7500"/>
            </a:avLst>
          </a:prstGeom>
          <a:solidFill>
            <a:srgbClr val="DBEAFE"/>
          </a:solidFill>
          <a:ln w="15240">
            <a:solidFill>
              <a:srgbClr val="1E40AF"/>
            </a:solidFill>
            <a:prstDash val="solid"/>
          </a:ln>
        </p:spPr>
      </p:sp>
      <p:sp>
        <p:nvSpPr>
          <p:cNvPr id="10" name="Text 8"/>
          <p:cNvSpPr/>
          <p:nvPr/>
        </p:nvSpPr>
        <p:spPr>
          <a:xfrm>
            <a:off x="594360" y="3657600"/>
            <a:ext cx="1371600" cy="54864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AI generates</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citation</a:t>
            </a:r>
            <a:endParaRPr lang="en-US" sz="1000" dirty="0"/>
          </a:p>
        </p:txBody>
      </p:sp>
      <p:sp>
        <p:nvSpPr>
          <p:cNvPr id="11" name="Shape 9"/>
          <p:cNvSpPr/>
          <p:nvPr/>
        </p:nvSpPr>
        <p:spPr>
          <a:xfrm>
            <a:off x="2057400" y="3931920"/>
            <a:ext cx="182880" cy="0"/>
          </a:xfrm>
          <a:prstGeom prst="line">
            <a:avLst/>
          </a:prstGeom>
          <a:noFill/>
          <a:ln w="19050">
            <a:solidFill>
              <a:srgbClr val="6B7280"/>
            </a:solidFill>
            <a:prstDash val="solid"/>
            <a:tailEnd type="triangle"/>
          </a:ln>
        </p:spPr>
      </p:sp>
      <p:sp>
        <p:nvSpPr>
          <p:cNvPr id="12" name="Shape 10"/>
          <p:cNvSpPr/>
          <p:nvPr/>
        </p:nvSpPr>
        <p:spPr>
          <a:xfrm>
            <a:off x="2286000" y="3566160"/>
            <a:ext cx="1463040" cy="731520"/>
          </a:xfrm>
          <a:prstGeom prst="roundRect">
            <a:avLst>
              <a:gd name="adj" fmla="val 7500"/>
            </a:avLst>
          </a:prstGeom>
          <a:solidFill>
            <a:srgbClr val="FEF3C7"/>
          </a:solidFill>
          <a:ln w="15240">
            <a:solidFill>
              <a:srgbClr val="B45309"/>
            </a:solidFill>
            <a:prstDash val="solid"/>
          </a:ln>
        </p:spPr>
      </p:sp>
      <p:sp>
        <p:nvSpPr>
          <p:cNvPr id="13" name="Text 11"/>
          <p:cNvSpPr/>
          <p:nvPr/>
        </p:nvSpPr>
        <p:spPr>
          <a:xfrm>
            <a:off x="2331720" y="3657600"/>
            <a:ext cx="1371600" cy="54864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Lawyer files</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without verifying</a:t>
            </a:r>
            <a:endParaRPr lang="en-US" sz="1000" dirty="0"/>
          </a:p>
        </p:txBody>
      </p:sp>
      <p:sp>
        <p:nvSpPr>
          <p:cNvPr id="14" name="Shape 12"/>
          <p:cNvSpPr/>
          <p:nvPr/>
        </p:nvSpPr>
        <p:spPr>
          <a:xfrm>
            <a:off x="3794760" y="3931920"/>
            <a:ext cx="182880" cy="0"/>
          </a:xfrm>
          <a:prstGeom prst="line">
            <a:avLst/>
          </a:prstGeom>
          <a:noFill/>
          <a:ln w="19050">
            <a:solidFill>
              <a:srgbClr val="6B7280"/>
            </a:solidFill>
            <a:prstDash val="solid"/>
            <a:tailEnd type="triangle"/>
          </a:ln>
        </p:spPr>
      </p:sp>
      <p:sp>
        <p:nvSpPr>
          <p:cNvPr id="15" name="Shape 13"/>
          <p:cNvSpPr/>
          <p:nvPr/>
        </p:nvSpPr>
        <p:spPr>
          <a:xfrm>
            <a:off x="4023360" y="3566160"/>
            <a:ext cx="1463040" cy="731520"/>
          </a:xfrm>
          <a:prstGeom prst="roundRect">
            <a:avLst>
              <a:gd name="adj" fmla="val 7500"/>
            </a:avLst>
          </a:prstGeom>
          <a:solidFill>
            <a:srgbClr val="F3F4F6"/>
          </a:solidFill>
          <a:ln w="15240">
            <a:solidFill>
              <a:srgbClr val="E5E7EB"/>
            </a:solidFill>
            <a:prstDash val="solid"/>
          </a:ln>
        </p:spPr>
      </p:sp>
      <p:sp>
        <p:nvSpPr>
          <p:cNvPr id="16" name="Text 14"/>
          <p:cNvSpPr/>
          <p:nvPr/>
        </p:nvSpPr>
        <p:spPr>
          <a:xfrm>
            <a:off x="4069080" y="3657600"/>
            <a:ext cx="1371600" cy="54864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Court relies</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on precedent</a:t>
            </a:r>
            <a:endParaRPr lang="en-US" sz="1000" dirty="0"/>
          </a:p>
        </p:txBody>
      </p:sp>
      <p:sp>
        <p:nvSpPr>
          <p:cNvPr id="17" name="Shape 15"/>
          <p:cNvSpPr/>
          <p:nvPr/>
        </p:nvSpPr>
        <p:spPr>
          <a:xfrm>
            <a:off x="5532120" y="3931920"/>
            <a:ext cx="182880" cy="0"/>
          </a:xfrm>
          <a:prstGeom prst="line">
            <a:avLst/>
          </a:prstGeom>
          <a:noFill/>
          <a:ln w="19050">
            <a:solidFill>
              <a:srgbClr val="6B7280"/>
            </a:solidFill>
            <a:prstDash val="solid"/>
            <a:tailEnd type="triangle"/>
          </a:ln>
        </p:spPr>
      </p:sp>
      <p:sp>
        <p:nvSpPr>
          <p:cNvPr id="18" name="Shape 16"/>
          <p:cNvSpPr/>
          <p:nvPr/>
        </p:nvSpPr>
        <p:spPr>
          <a:xfrm>
            <a:off x="5760720" y="3566160"/>
            <a:ext cx="1463040" cy="731520"/>
          </a:xfrm>
          <a:prstGeom prst="roundRect">
            <a:avLst>
              <a:gd name="adj" fmla="val 7500"/>
            </a:avLst>
          </a:prstGeom>
          <a:solidFill>
            <a:srgbClr val="FEE2E2"/>
          </a:solidFill>
          <a:ln w="15240">
            <a:solidFill>
              <a:srgbClr val="B91C1C"/>
            </a:solidFill>
            <a:prstDash val="solid"/>
          </a:ln>
        </p:spPr>
      </p:sp>
      <p:sp>
        <p:nvSpPr>
          <p:cNvPr id="19" name="Text 17"/>
          <p:cNvSpPr/>
          <p:nvPr/>
        </p:nvSpPr>
        <p:spPr>
          <a:xfrm>
            <a:off x="5806440" y="3657600"/>
            <a:ext cx="1371600" cy="54864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Precedent</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does not exist</a:t>
            </a:r>
            <a:endParaRPr lang="en-US" sz="1000" dirty="0"/>
          </a:p>
        </p:txBody>
      </p:sp>
      <p:sp>
        <p:nvSpPr>
          <p:cNvPr id="20" name="Shape 18"/>
          <p:cNvSpPr/>
          <p:nvPr/>
        </p:nvSpPr>
        <p:spPr>
          <a:xfrm>
            <a:off x="7269480" y="3931920"/>
            <a:ext cx="182880" cy="0"/>
          </a:xfrm>
          <a:prstGeom prst="line">
            <a:avLst/>
          </a:prstGeom>
          <a:noFill/>
          <a:ln w="19050">
            <a:solidFill>
              <a:srgbClr val="6B7280"/>
            </a:solidFill>
            <a:prstDash val="solid"/>
            <a:tailEnd type="triangle"/>
          </a:ln>
        </p:spPr>
      </p:sp>
      <p:sp>
        <p:nvSpPr>
          <p:cNvPr id="21" name="Shape 19"/>
          <p:cNvSpPr/>
          <p:nvPr/>
        </p:nvSpPr>
        <p:spPr>
          <a:xfrm>
            <a:off x="7498080" y="3566160"/>
            <a:ext cx="1463040" cy="731520"/>
          </a:xfrm>
          <a:prstGeom prst="roundRect">
            <a:avLst>
              <a:gd name="adj" fmla="val 7500"/>
            </a:avLst>
          </a:prstGeom>
          <a:solidFill>
            <a:srgbClr val="FEE2E2"/>
          </a:solidFill>
          <a:ln w="15240">
            <a:solidFill>
              <a:srgbClr val="B91C1C"/>
            </a:solidFill>
            <a:prstDash val="solid"/>
          </a:ln>
        </p:spPr>
      </p:sp>
      <p:sp>
        <p:nvSpPr>
          <p:cNvPr id="22" name="Text 20"/>
          <p:cNvSpPr/>
          <p:nvPr/>
        </p:nvSpPr>
        <p:spPr>
          <a:xfrm>
            <a:off x="7543800" y="3657600"/>
            <a:ext cx="1371600" cy="54864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Decision</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vacated</a:t>
            </a:r>
            <a:endParaRPr lang="en-US" sz="1000" dirty="0"/>
          </a:p>
        </p:txBody>
      </p:sp>
      <p:sp>
        <p:nvSpPr>
          <p:cNvPr id="23" name="Text 21"/>
          <p:cNvSpPr/>
          <p:nvPr/>
        </p:nvSpPr>
        <p:spPr>
          <a:xfrm>
            <a:off x="548640" y="4480560"/>
            <a:ext cx="8046720" cy="274320"/>
          </a:xfrm>
          <a:prstGeom prst="rect">
            <a:avLst/>
          </a:prstGeom>
          <a:noFill/>
          <a:ln/>
        </p:spPr>
        <p:txBody>
          <a:bodyPr wrap="square" lIns="0" tIns="0" rIns="0" bIns="0"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Zero tolerance. The verification obligation now sits with the professional.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What Changed in Legal Work</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The entry-level job description has been rewritten</a:t>
            </a:r>
            <a:endParaRPr lang="en-US" sz="1200" dirty="0"/>
          </a:p>
        </p:txBody>
      </p:sp>
      <p:sp>
        <p:nvSpPr>
          <p:cNvPr id="4" name="Text 2"/>
          <p:cNvSpPr/>
          <p:nvPr/>
        </p:nvSpPr>
        <p:spPr>
          <a:xfrm>
            <a:off x="548640" y="1188720"/>
            <a:ext cx="3657600" cy="32004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BEFORE AI</a:t>
            </a:r>
            <a:endParaRPr lang="en-US" sz="1400" dirty="0"/>
          </a:p>
        </p:txBody>
      </p:sp>
      <p:sp>
        <p:nvSpPr>
          <p:cNvPr id="5" name="Shape 3"/>
          <p:cNvSpPr/>
          <p:nvPr/>
        </p:nvSpPr>
        <p:spPr>
          <a:xfrm>
            <a:off x="1371600" y="1600200"/>
            <a:ext cx="2011680" cy="502920"/>
          </a:xfrm>
          <a:prstGeom prst="roundRect">
            <a:avLst>
              <a:gd name="adj" fmla="val 10909"/>
            </a:avLst>
          </a:prstGeom>
          <a:solidFill>
            <a:srgbClr val="F3F4F6"/>
          </a:solidFill>
          <a:ln w="15240">
            <a:solidFill>
              <a:srgbClr val="E5E7EB"/>
            </a:solidFill>
            <a:prstDash val="solid"/>
          </a:ln>
        </p:spPr>
      </p:sp>
      <p:sp>
        <p:nvSpPr>
          <p:cNvPr id="6" name="Text 4"/>
          <p:cNvSpPr/>
          <p:nvPr/>
        </p:nvSpPr>
        <p:spPr>
          <a:xfrm>
            <a:off x="1371600" y="1645920"/>
            <a:ext cx="2011680" cy="4114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Template drafting</a:t>
            </a:r>
            <a:endParaRPr lang="en-US" sz="1200" dirty="0"/>
          </a:p>
        </p:txBody>
      </p:sp>
      <p:sp>
        <p:nvSpPr>
          <p:cNvPr id="7" name="Shape 5"/>
          <p:cNvSpPr/>
          <p:nvPr/>
        </p:nvSpPr>
        <p:spPr>
          <a:xfrm>
            <a:off x="1097280" y="2240280"/>
            <a:ext cx="2560320" cy="502920"/>
          </a:xfrm>
          <a:prstGeom prst="roundRect">
            <a:avLst>
              <a:gd name="adj" fmla="val 10909"/>
            </a:avLst>
          </a:prstGeom>
          <a:solidFill>
            <a:srgbClr val="F3F4F6"/>
          </a:solidFill>
          <a:ln w="15240">
            <a:solidFill>
              <a:srgbClr val="E5E7EB"/>
            </a:solidFill>
            <a:prstDash val="solid"/>
          </a:ln>
        </p:spPr>
      </p:sp>
      <p:sp>
        <p:nvSpPr>
          <p:cNvPr id="8" name="Text 6"/>
          <p:cNvSpPr/>
          <p:nvPr/>
        </p:nvSpPr>
        <p:spPr>
          <a:xfrm>
            <a:off x="1097280" y="2286000"/>
            <a:ext cx="2560320" cy="4114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DD checklists</a:t>
            </a:r>
            <a:endParaRPr lang="en-US" sz="1200" dirty="0"/>
          </a:p>
        </p:txBody>
      </p:sp>
      <p:sp>
        <p:nvSpPr>
          <p:cNvPr id="9" name="Shape 7"/>
          <p:cNvSpPr/>
          <p:nvPr/>
        </p:nvSpPr>
        <p:spPr>
          <a:xfrm>
            <a:off x="822960" y="2880360"/>
            <a:ext cx="3108960" cy="502920"/>
          </a:xfrm>
          <a:prstGeom prst="roundRect">
            <a:avLst>
              <a:gd name="adj" fmla="val 10909"/>
            </a:avLst>
          </a:prstGeom>
          <a:solidFill>
            <a:srgbClr val="F3F4F6"/>
          </a:solidFill>
          <a:ln w="15240">
            <a:solidFill>
              <a:srgbClr val="E5E7EB"/>
            </a:solidFill>
            <a:prstDash val="solid"/>
          </a:ln>
        </p:spPr>
      </p:sp>
      <p:sp>
        <p:nvSpPr>
          <p:cNvPr id="10" name="Text 8"/>
          <p:cNvSpPr/>
          <p:nvPr/>
        </p:nvSpPr>
        <p:spPr>
          <a:xfrm>
            <a:off x="822960" y="2926080"/>
            <a:ext cx="3108960" cy="4114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Summarisation</a:t>
            </a:r>
            <a:endParaRPr lang="en-US" sz="1200" dirty="0"/>
          </a:p>
        </p:txBody>
      </p:sp>
      <p:sp>
        <p:nvSpPr>
          <p:cNvPr id="11" name="Shape 9"/>
          <p:cNvSpPr/>
          <p:nvPr/>
        </p:nvSpPr>
        <p:spPr>
          <a:xfrm>
            <a:off x="548640" y="3520440"/>
            <a:ext cx="3657600" cy="502920"/>
          </a:xfrm>
          <a:prstGeom prst="roundRect">
            <a:avLst>
              <a:gd name="adj" fmla="val 10909"/>
            </a:avLst>
          </a:prstGeom>
          <a:solidFill>
            <a:srgbClr val="F3F4F6"/>
          </a:solidFill>
          <a:ln w="15240">
            <a:solidFill>
              <a:srgbClr val="E5E7EB"/>
            </a:solidFill>
            <a:prstDash val="solid"/>
          </a:ln>
        </p:spPr>
      </p:sp>
      <p:sp>
        <p:nvSpPr>
          <p:cNvPr id="12" name="Text 10"/>
          <p:cNvSpPr/>
          <p:nvPr/>
        </p:nvSpPr>
        <p:spPr>
          <a:xfrm>
            <a:off x="548640" y="3566160"/>
            <a:ext cx="3657600" cy="4114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Research</a:t>
            </a:r>
            <a:endParaRPr lang="en-US" sz="1200" dirty="0"/>
          </a:p>
        </p:txBody>
      </p:sp>
      <p:sp>
        <p:nvSpPr>
          <p:cNvPr id="13" name="Text 11"/>
          <p:cNvSpPr/>
          <p:nvPr/>
        </p:nvSpPr>
        <p:spPr>
          <a:xfrm>
            <a:off x="1097280" y="4206240"/>
            <a:ext cx="2560320" cy="457200"/>
          </a:xfrm>
          <a:prstGeom prst="rect">
            <a:avLst/>
          </a:prstGeom>
          <a:noFill/>
          <a:ln/>
        </p:spPr>
        <p:txBody>
          <a:bodyPr wrap="square" lIns="0" tIns="0" rIns="0" bIns="0" rtlCol="0" anchor="ctr"/>
          <a:lstStyle/>
          <a:p>
            <a:pPr algn="ctr" indent="0" marL="0">
              <a:buNone/>
            </a:pPr>
            <a:r>
              <a:rPr lang="en-US" sz="1100" i="1" dirty="0">
                <a:solidFill>
                  <a:srgbClr val="B91C1C"/>
                </a:solidFill>
                <a:latin typeface="Calibri" pitchFamily="34" charset="0"/>
                <a:ea typeface="Calibri" pitchFamily="34" charset="-122"/>
                <a:cs typeface="Calibri" pitchFamily="34" charset="-120"/>
              </a:rPr>
              <a:t>AI automates</a:t>
            </a:r>
            <a:endParaRPr lang="en-US" sz="1100" dirty="0"/>
          </a:p>
          <a:p>
            <a:pPr algn="ctr" indent="0" marL="0">
              <a:buNone/>
            </a:pPr>
            <a:r>
              <a:rPr lang="en-US" sz="1100" i="1" dirty="0">
                <a:solidFill>
                  <a:srgbClr val="B91C1C"/>
                </a:solidFill>
                <a:latin typeface="Calibri" pitchFamily="34" charset="0"/>
                <a:ea typeface="Calibri" pitchFamily="34" charset="-122"/>
                <a:cs typeface="Calibri" pitchFamily="34" charset="-120"/>
              </a:rPr>
              <a:t>this layer</a:t>
            </a:r>
            <a:endParaRPr lang="en-US" sz="1100" dirty="0"/>
          </a:p>
        </p:txBody>
      </p:sp>
      <p:sp>
        <p:nvSpPr>
          <p:cNvPr id="14" name="Text 12"/>
          <p:cNvSpPr/>
          <p:nvPr/>
        </p:nvSpPr>
        <p:spPr>
          <a:xfrm>
            <a:off x="4114800" y="2560320"/>
            <a:ext cx="914400" cy="457200"/>
          </a:xfrm>
          <a:prstGeom prst="rect">
            <a:avLst/>
          </a:prstGeom>
          <a:noFill/>
          <a:ln/>
        </p:spPr>
        <p:txBody>
          <a:bodyPr wrap="square" lIns="0" tIns="0" rIns="0" bIns="0" rtlCol="0" anchor="ctr"/>
          <a:lstStyle/>
          <a:p>
            <a:pPr algn="ctr" indent="0" marL="0">
              <a:buNone/>
            </a:pPr>
            <a:r>
              <a:rPr lang="en-US" sz="2800" dirty="0">
                <a:solidFill>
                  <a:srgbClr val="1B2A4A"/>
                </a:solidFill>
                <a:latin typeface="Calibri" pitchFamily="34" charset="0"/>
                <a:ea typeface="Calibri" pitchFamily="34" charset="-122"/>
                <a:cs typeface="Calibri" pitchFamily="34" charset="-120"/>
              </a:rPr>
              <a:t>→</a:t>
            </a:r>
            <a:endParaRPr lang="en-US" sz="2800" dirty="0"/>
          </a:p>
        </p:txBody>
      </p:sp>
      <p:sp>
        <p:nvSpPr>
          <p:cNvPr id="15" name="Text 13"/>
          <p:cNvSpPr/>
          <p:nvPr/>
        </p:nvSpPr>
        <p:spPr>
          <a:xfrm>
            <a:off x="4937760" y="1188720"/>
            <a:ext cx="365760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AFTER AI</a:t>
            </a:r>
            <a:endParaRPr lang="en-US" sz="1400" dirty="0"/>
          </a:p>
        </p:txBody>
      </p:sp>
      <p:sp>
        <p:nvSpPr>
          <p:cNvPr id="16" name="Shape 14"/>
          <p:cNvSpPr/>
          <p:nvPr/>
        </p:nvSpPr>
        <p:spPr>
          <a:xfrm>
            <a:off x="5943600" y="1600200"/>
            <a:ext cx="1645920" cy="438912"/>
          </a:xfrm>
          <a:prstGeom prst="roundRect">
            <a:avLst>
              <a:gd name="adj" fmla="val 12500"/>
            </a:avLst>
          </a:prstGeom>
          <a:solidFill>
            <a:srgbClr val="DBEAFE"/>
          </a:solidFill>
          <a:ln w="15240">
            <a:solidFill>
              <a:srgbClr val="1E40AF"/>
            </a:solidFill>
            <a:prstDash val="solid"/>
          </a:ln>
        </p:spPr>
      </p:sp>
      <p:sp>
        <p:nvSpPr>
          <p:cNvPr id="17" name="Text 15"/>
          <p:cNvSpPr/>
          <p:nvPr/>
        </p:nvSpPr>
        <p:spPr>
          <a:xfrm>
            <a:off x="5943600" y="1636776"/>
            <a:ext cx="1645920" cy="365760"/>
          </a:xfrm>
          <a:prstGeom prst="rect">
            <a:avLst/>
          </a:prstGeom>
          <a:noFill/>
          <a:ln/>
        </p:spPr>
        <p:txBody>
          <a:bodyPr wrap="square" lIns="0" tIns="0" rIns="0" bIns="0" rtlCol="0" anchor="ctr"/>
          <a:lstStyle/>
          <a:p>
            <a:pPr algn="ctr" indent="0" marL="0">
              <a:buNone/>
            </a:pPr>
            <a:r>
              <a:rPr lang="en-US" sz="1100" b="1" dirty="0">
                <a:solidFill>
                  <a:srgbClr val="374151"/>
                </a:solidFill>
                <a:latin typeface="Calibri" pitchFamily="34" charset="0"/>
                <a:ea typeface="Calibri" pitchFamily="34" charset="-122"/>
                <a:cs typeface="Calibri" pitchFamily="34" charset="-120"/>
              </a:rPr>
              <a:t>Evidence design</a:t>
            </a:r>
            <a:endParaRPr lang="en-US" sz="1100" dirty="0"/>
          </a:p>
        </p:txBody>
      </p:sp>
      <p:sp>
        <p:nvSpPr>
          <p:cNvPr id="18" name="Shape 16"/>
          <p:cNvSpPr/>
          <p:nvPr/>
        </p:nvSpPr>
        <p:spPr>
          <a:xfrm>
            <a:off x="5669280" y="2148840"/>
            <a:ext cx="2194560" cy="438912"/>
          </a:xfrm>
          <a:prstGeom prst="roundRect">
            <a:avLst>
              <a:gd name="adj" fmla="val 12500"/>
            </a:avLst>
          </a:prstGeom>
          <a:solidFill>
            <a:srgbClr val="DBEAFE"/>
          </a:solidFill>
          <a:ln w="15240">
            <a:solidFill>
              <a:srgbClr val="1E40AF"/>
            </a:solidFill>
            <a:prstDash val="solid"/>
          </a:ln>
        </p:spPr>
      </p:sp>
      <p:sp>
        <p:nvSpPr>
          <p:cNvPr id="19" name="Text 17"/>
          <p:cNvSpPr/>
          <p:nvPr/>
        </p:nvSpPr>
        <p:spPr>
          <a:xfrm>
            <a:off x="5669280" y="2185416"/>
            <a:ext cx="2194560" cy="365760"/>
          </a:xfrm>
          <a:prstGeom prst="rect">
            <a:avLst/>
          </a:prstGeom>
          <a:noFill/>
          <a:ln/>
        </p:spPr>
        <p:txBody>
          <a:bodyPr wrap="square" lIns="0" tIns="0" rIns="0" bIns="0" rtlCol="0" anchor="ctr"/>
          <a:lstStyle/>
          <a:p>
            <a:pPr algn="ctr" indent="0" marL="0">
              <a:buNone/>
            </a:pPr>
            <a:r>
              <a:rPr lang="en-US" sz="1100" b="1" dirty="0">
                <a:solidFill>
                  <a:srgbClr val="374151"/>
                </a:solidFill>
                <a:latin typeface="Calibri" pitchFamily="34" charset="0"/>
                <a:ea typeface="Calibri" pitchFamily="34" charset="-122"/>
                <a:cs typeface="Calibri" pitchFamily="34" charset="-120"/>
              </a:rPr>
              <a:t>Regulatory interpretation</a:t>
            </a:r>
            <a:endParaRPr lang="en-US" sz="1100" dirty="0"/>
          </a:p>
        </p:txBody>
      </p:sp>
      <p:sp>
        <p:nvSpPr>
          <p:cNvPr id="20" name="Shape 18"/>
          <p:cNvSpPr/>
          <p:nvPr/>
        </p:nvSpPr>
        <p:spPr>
          <a:xfrm>
            <a:off x="5394960" y="2697480"/>
            <a:ext cx="2743200" cy="438912"/>
          </a:xfrm>
          <a:prstGeom prst="roundRect">
            <a:avLst>
              <a:gd name="adj" fmla="val 12500"/>
            </a:avLst>
          </a:prstGeom>
          <a:solidFill>
            <a:srgbClr val="D1FAE5"/>
          </a:solidFill>
          <a:ln w="15240">
            <a:solidFill>
              <a:srgbClr val="047857"/>
            </a:solidFill>
            <a:prstDash val="solid"/>
          </a:ln>
        </p:spPr>
      </p:sp>
      <p:sp>
        <p:nvSpPr>
          <p:cNvPr id="21" name="Text 19"/>
          <p:cNvSpPr/>
          <p:nvPr/>
        </p:nvSpPr>
        <p:spPr>
          <a:xfrm>
            <a:off x="5394960" y="2734056"/>
            <a:ext cx="2743200" cy="365760"/>
          </a:xfrm>
          <a:prstGeom prst="rect">
            <a:avLst/>
          </a:prstGeom>
          <a:noFill/>
          <a:ln/>
        </p:spPr>
        <p:txBody>
          <a:bodyPr wrap="square" lIns="0" tIns="0" rIns="0" bIns="0" rtlCol="0" anchor="ctr"/>
          <a:lstStyle/>
          <a:p>
            <a:pPr algn="ctr" indent="0" marL="0">
              <a:buNone/>
            </a:pPr>
            <a:r>
              <a:rPr lang="en-US" sz="1100" b="1" dirty="0">
                <a:solidFill>
                  <a:srgbClr val="374151"/>
                </a:solidFill>
                <a:latin typeface="Calibri" pitchFamily="34" charset="0"/>
                <a:ea typeface="Calibri" pitchFamily="34" charset="-122"/>
                <a:cs typeface="Calibri" pitchFamily="34" charset="-120"/>
              </a:rPr>
              <a:t>Risk classification</a:t>
            </a:r>
            <a:endParaRPr lang="en-US" sz="1100" dirty="0"/>
          </a:p>
        </p:txBody>
      </p:sp>
      <p:sp>
        <p:nvSpPr>
          <p:cNvPr id="22" name="Shape 20"/>
          <p:cNvSpPr/>
          <p:nvPr/>
        </p:nvSpPr>
        <p:spPr>
          <a:xfrm>
            <a:off x="5120640" y="3246120"/>
            <a:ext cx="3291840" cy="438912"/>
          </a:xfrm>
          <a:prstGeom prst="roundRect">
            <a:avLst>
              <a:gd name="adj" fmla="val 12500"/>
            </a:avLst>
          </a:prstGeom>
          <a:solidFill>
            <a:srgbClr val="D1FAE5"/>
          </a:solidFill>
          <a:ln w="15240">
            <a:solidFill>
              <a:srgbClr val="047857"/>
            </a:solidFill>
            <a:prstDash val="solid"/>
          </a:ln>
        </p:spPr>
      </p:sp>
      <p:sp>
        <p:nvSpPr>
          <p:cNvPr id="23" name="Text 21"/>
          <p:cNvSpPr/>
          <p:nvPr/>
        </p:nvSpPr>
        <p:spPr>
          <a:xfrm>
            <a:off x="5120640" y="3282696"/>
            <a:ext cx="3291840" cy="365760"/>
          </a:xfrm>
          <a:prstGeom prst="rect">
            <a:avLst/>
          </a:prstGeom>
          <a:noFill/>
          <a:ln/>
        </p:spPr>
        <p:txBody>
          <a:bodyPr wrap="square" lIns="0" tIns="0" rIns="0" bIns="0" rtlCol="0" anchor="ctr"/>
          <a:lstStyle/>
          <a:p>
            <a:pPr algn="ctr" indent="0" marL="0">
              <a:buNone/>
            </a:pPr>
            <a:r>
              <a:rPr lang="en-US" sz="1100" b="1" dirty="0">
                <a:solidFill>
                  <a:srgbClr val="374151"/>
                </a:solidFill>
                <a:latin typeface="Calibri" pitchFamily="34" charset="0"/>
                <a:ea typeface="Calibri" pitchFamily="34" charset="-122"/>
                <a:cs typeface="Calibri" pitchFamily="34" charset="-120"/>
              </a:rPr>
              <a:t>Exception identification</a:t>
            </a:r>
            <a:endParaRPr lang="en-US" sz="1100" dirty="0"/>
          </a:p>
        </p:txBody>
      </p:sp>
      <p:sp>
        <p:nvSpPr>
          <p:cNvPr id="24" name="Shape 22"/>
          <p:cNvSpPr/>
          <p:nvPr/>
        </p:nvSpPr>
        <p:spPr>
          <a:xfrm>
            <a:off x="4937760" y="3794760"/>
            <a:ext cx="3657600" cy="438912"/>
          </a:xfrm>
          <a:prstGeom prst="roundRect">
            <a:avLst>
              <a:gd name="adj" fmla="val 12500"/>
            </a:avLst>
          </a:prstGeom>
          <a:solidFill>
            <a:srgbClr val="FEF3C7"/>
          </a:solidFill>
          <a:ln w="15240">
            <a:solidFill>
              <a:srgbClr val="B45309"/>
            </a:solidFill>
            <a:prstDash val="solid"/>
          </a:ln>
        </p:spPr>
      </p:sp>
      <p:sp>
        <p:nvSpPr>
          <p:cNvPr id="25" name="Text 23"/>
          <p:cNvSpPr/>
          <p:nvPr/>
        </p:nvSpPr>
        <p:spPr>
          <a:xfrm>
            <a:off x="4937760" y="3831336"/>
            <a:ext cx="3657600" cy="365760"/>
          </a:xfrm>
          <a:prstGeom prst="rect">
            <a:avLst/>
          </a:prstGeom>
          <a:noFill/>
          <a:ln/>
        </p:spPr>
        <p:txBody>
          <a:bodyPr wrap="square" lIns="0" tIns="0" rIns="0" bIns="0" rtlCol="0" anchor="ctr"/>
          <a:lstStyle/>
          <a:p>
            <a:pPr algn="ctr" indent="0" marL="0">
              <a:buNone/>
            </a:pPr>
            <a:r>
              <a:rPr lang="en-US" sz="1100" b="1" dirty="0">
                <a:solidFill>
                  <a:srgbClr val="374151"/>
                </a:solidFill>
                <a:latin typeface="Calibri" pitchFamily="34" charset="0"/>
                <a:ea typeface="Calibri" pitchFamily="34" charset="-122"/>
                <a:cs typeface="Calibri" pitchFamily="34" charset="-120"/>
              </a:rPr>
              <a:t>Verification</a:t>
            </a:r>
            <a:endParaRPr lang="en-US" sz="1100" dirty="0"/>
          </a:p>
        </p:txBody>
      </p:sp>
      <p:sp>
        <p:nvSpPr>
          <p:cNvPr id="26" name="Text 24"/>
          <p:cNvSpPr/>
          <p:nvPr/>
        </p:nvSpPr>
        <p:spPr>
          <a:xfrm>
            <a:off x="5486400" y="4297680"/>
            <a:ext cx="2560320" cy="457200"/>
          </a:xfrm>
          <a:prstGeom prst="rect">
            <a:avLst/>
          </a:prstGeom>
          <a:noFill/>
          <a:ln/>
        </p:spPr>
        <p:txBody>
          <a:bodyPr wrap="square" lIns="0" tIns="0" rIns="0" bIns="0" rtlCol="0" anchor="ctr"/>
          <a:lstStyle/>
          <a:p>
            <a:pPr algn="ctr" indent="0" marL="0">
              <a:buNone/>
            </a:pPr>
            <a:r>
              <a:rPr lang="en-US" sz="1100" i="1" dirty="0">
                <a:solidFill>
                  <a:srgbClr val="047857"/>
                </a:solidFill>
                <a:latin typeface="Calibri" pitchFamily="34" charset="0"/>
                <a:ea typeface="Calibri" pitchFamily="34" charset="-122"/>
                <a:cs typeface="Calibri" pitchFamily="34" charset="-120"/>
              </a:rPr>
              <a:t>Humans must do</a:t>
            </a:r>
            <a:endParaRPr lang="en-US" sz="1100" dirty="0"/>
          </a:p>
          <a:p>
            <a:pPr algn="ctr" indent="0" marL="0">
              <a:buNone/>
            </a:pPr>
            <a:r>
              <a:rPr lang="en-US" sz="1100" i="1" dirty="0">
                <a:solidFill>
                  <a:srgbClr val="047857"/>
                </a:solidFill>
                <a:latin typeface="Calibri" pitchFamily="34" charset="0"/>
                <a:ea typeface="Calibri" pitchFamily="34" charset="-122"/>
                <a:cs typeface="Calibri" pitchFamily="34" charset="-120"/>
              </a:rPr>
              <a:t>this layer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The Responsibility Chain</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Where the new legal work sits</a:t>
            </a:r>
            <a:endParaRPr lang="en-US" sz="1200" dirty="0"/>
          </a:p>
        </p:txBody>
      </p:sp>
      <p:sp>
        <p:nvSpPr>
          <p:cNvPr id="4" name="Shape 2"/>
          <p:cNvSpPr/>
          <p:nvPr/>
        </p:nvSpPr>
        <p:spPr>
          <a:xfrm>
            <a:off x="457200" y="1463040"/>
            <a:ext cx="1463040" cy="1645920"/>
          </a:xfrm>
          <a:prstGeom prst="roundRect">
            <a:avLst>
              <a:gd name="adj" fmla="val 3750"/>
            </a:avLst>
          </a:prstGeom>
          <a:solidFill>
            <a:srgbClr val="DBEAFE"/>
          </a:solidFill>
          <a:ln w="15240">
            <a:solidFill>
              <a:srgbClr val="1E40AF"/>
            </a:solidFill>
            <a:prstDash val="solid"/>
          </a:ln>
        </p:spPr>
      </p:sp>
      <p:sp>
        <p:nvSpPr>
          <p:cNvPr id="5" name="Text 3"/>
          <p:cNvSpPr/>
          <p:nvPr/>
        </p:nvSpPr>
        <p:spPr>
          <a:xfrm>
            <a:off x="502920" y="1600200"/>
            <a:ext cx="1371600" cy="54864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AI PRODUCES</a:t>
            </a:r>
            <a:endParaRPr lang="en-US" sz="1200" dirty="0"/>
          </a:p>
        </p:txBody>
      </p:sp>
      <p:sp>
        <p:nvSpPr>
          <p:cNvPr id="6" name="Text 4"/>
          <p:cNvSpPr/>
          <p:nvPr/>
        </p:nvSpPr>
        <p:spPr>
          <a:xfrm>
            <a:off x="502920" y="2240280"/>
            <a:ext cx="1371600" cy="64008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Output, prediction,</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recommendation</a:t>
            </a:r>
            <a:endParaRPr lang="en-US" sz="1000" dirty="0"/>
          </a:p>
        </p:txBody>
      </p:sp>
      <p:sp>
        <p:nvSpPr>
          <p:cNvPr id="7" name="Shape 5"/>
          <p:cNvSpPr/>
          <p:nvPr/>
        </p:nvSpPr>
        <p:spPr>
          <a:xfrm>
            <a:off x="1965960" y="2286000"/>
            <a:ext cx="182880" cy="0"/>
          </a:xfrm>
          <a:prstGeom prst="line">
            <a:avLst/>
          </a:prstGeom>
          <a:noFill/>
          <a:ln w="19050">
            <a:solidFill>
              <a:srgbClr val="6B7280"/>
            </a:solidFill>
            <a:prstDash val="solid"/>
            <a:tailEnd type="triangle"/>
          </a:ln>
        </p:spPr>
      </p:sp>
      <p:sp>
        <p:nvSpPr>
          <p:cNvPr id="8" name="Shape 6"/>
          <p:cNvSpPr/>
          <p:nvPr/>
        </p:nvSpPr>
        <p:spPr>
          <a:xfrm>
            <a:off x="2194560" y="1463040"/>
            <a:ext cx="1463040" cy="1645920"/>
          </a:xfrm>
          <a:prstGeom prst="roundRect">
            <a:avLst>
              <a:gd name="adj" fmla="val 3750"/>
            </a:avLst>
          </a:prstGeom>
          <a:solidFill>
            <a:srgbClr val="D1FAE5"/>
          </a:solidFill>
          <a:ln w="15240">
            <a:solidFill>
              <a:srgbClr val="047857"/>
            </a:solidFill>
            <a:prstDash val="solid"/>
          </a:ln>
        </p:spPr>
      </p:sp>
      <p:sp>
        <p:nvSpPr>
          <p:cNvPr id="9" name="Text 7"/>
          <p:cNvSpPr/>
          <p:nvPr/>
        </p:nvSpPr>
        <p:spPr>
          <a:xfrm>
            <a:off x="2240280" y="1600200"/>
            <a:ext cx="1371600" cy="54864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LAW PERMITS</a:t>
            </a:r>
            <a:endParaRPr lang="en-US" sz="1200" dirty="0"/>
          </a:p>
        </p:txBody>
      </p:sp>
      <p:sp>
        <p:nvSpPr>
          <p:cNvPr id="10" name="Text 8"/>
          <p:cNvSpPr/>
          <p:nvPr/>
        </p:nvSpPr>
        <p:spPr>
          <a:xfrm>
            <a:off x="2240280" y="2240280"/>
            <a:ext cx="1371600" cy="64008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Is processing</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lawful?</a:t>
            </a:r>
            <a:endParaRPr lang="en-US" sz="1000" dirty="0"/>
          </a:p>
        </p:txBody>
      </p:sp>
      <p:sp>
        <p:nvSpPr>
          <p:cNvPr id="11" name="Shape 9"/>
          <p:cNvSpPr/>
          <p:nvPr/>
        </p:nvSpPr>
        <p:spPr>
          <a:xfrm>
            <a:off x="3703320" y="2286000"/>
            <a:ext cx="182880" cy="0"/>
          </a:xfrm>
          <a:prstGeom prst="line">
            <a:avLst/>
          </a:prstGeom>
          <a:noFill/>
          <a:ln w="19050">
            <a:solidFill>
              <a:srgbClr val="6B7280"/>
            </a:solidFill>
            <a:prstDash val="solid"/>
            <a:tailEnd type="triangle"/>
          </a:ln>
        </p:spPr>
      </p:sp>
      <p:sp>
        <p:nvSpPr>
          <p:cNvPr id="12" name="Shape 10"/>
          <p:cNvSpPr/>
          <p:nvPr/>
        </p:nvSpPr>
        <p:spPr>
          <a:xfrm>
            <a:off x="3931920" y="1463040"/>
            <a:ext cx="1463040" cy="1645920"/>
          </a:xfrm>
          <a:prstGeom prst="roundRect">
            <a:avLst>
              <a:gd name="adj" fmla="val 3750"/>
            </a:avLst>
          </a:prstGeom>
          <a:solidFill>
            <a:srgbClr val="FEF3C7"/>
          </a:solidFill>
          <a:ln w="15240">
            <a:solidFill>
              <a:srgbClr val="B45309"/>
            </a:solidFill>
            <a:prstDash val="solid"/>
          </a:ln>
        </p:spPr>
      </p:sp>
      <p:sp>
        <p:nvSpPr>
          <p:cNvPr id="13" name="Text 11"/>
          <p:cNvSpPr/>
          <p:nvPr/>
        </p:nvSpPr>
        <p:spPr>
          <a:xfrm>
            <a:off x="3977640" y="1600200"/>
            <a:ext cx="1371600" cy="54864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HUMAN VERIFIES</a:t>
            </a:r>
            <a:endParaRPr lang="en-US" sz="1200" dirty="0"/>
          </a:p>
        </p:txBody>
      </p:sp>
      <p:sp>
        <p:nvSpPr>
          <p:cNvPr id="14" name="Text 12"/>
          <p:cNvSpPr/>
          <p:nvPr/>
        </p:nvSpPr>
        <p:spPr>
          <a:xfrm>
            <a:off x="3977640" y="2240280"/>
            <a:ext cx="1371600" cy="64008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Is the output</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correct?</a:t>
            </a:r>
            <a:endParaRPr lang="en-US" sz="1000" dirty="0"/>
          </a:p>
        </p:txBody>
      </p:sp>
      <p:sp>
        <p:nvSpPr>
          <p:cNvPr id="15" name="Shape 13"/>
          <p:cNvSpPr/>
          <p:nvPr/>
        </p:nvSpPr>
        <p:spPr>
          <a:xfrm>
            <a:off x="5440680" y="2286000"/>
            <a:ext cx="182880" cy="0"/>
          </a:xfrm>
          <a:prstGeom prst="line">
            <a:avLst/>
          </a:prstGeom>
          <a:noFill/>
          <a:ln w="19050">
            <a:solidFill>
              <a:srgbClr val="6B7280"/>
            </a:solidFill>
            <a:prstDash val="solid"/>
            <a:tailEnd type="triangle"/>
          </a:ln>
        </p:spPr>
      </p:sp>
      <p:sp>
        <p:nvSpPr>
          <p:cNvPr id="16" name="Shape 14"/>
          <p:cNvSpPr/>
          <p:nvPr/>
        </p:nvSpPr>
        <p:spPr>
          <a:xfrm>
            <a:off x="5669280" y="1463040"/>
            <a:ext cx="1463040" cy="1645920"/>
          </a:xfrm>
          <a:prstGeom prst="roundRect">
            <a:avLst>
              <a:gd name="adj" fmla="val 3750"/>
            </a:avLst>
          </a:prstGeom>
          <a:solidFill>
            <a:srgbClr val="EDE9FE"/>
          </a:solidFill>
          <a:ln w="15240">
            <a:solidFill>
              <a:srgbClr val="6D28D9"/>
            </a:solidFill>
            <a:prstDash val="solid"/>
          </a:ln>
        </p:spPr>
      </p:sp>
      <p:sp>
        <p:nvSpPr>
          <p:cNvPr id="17" name="Text 15"/>
          <p:cNvSpPr/>
          <p:nvPr/>
        </p:nvSpPr>
        <p:spPr>
          <a:xfrm>
            <a:off x="5715000" y="1600200"/>
            <a:ext cx="1371600" cy="54864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INSTITUTION</a:t>
            </a:r>
            <a:endParaRPr lang="en-US" sz="1200" dirty="0"/>
          </a:p>
          <a:p>
            <a:pPr algn="ctr" indent="0" marL="0">
              <a:buNone/>
            </a:pPr>
            <a:r>
              <a:rPr lang="en-US" sz="1200" b="1" dirty="0">
                <a:solidFill>
                  <a:srgbClr val="1B2A4A"/>
                </a:solidFill>
                <a:latin typeface="Calibri" pitchFamily="34" charset="0"/>
                <a:ea typeface="Calibri" pitchFamily="34" charset="-122"/>
                <a:cs typeface="Calibri" pitchFamily="34" charset="-120"/>
              </a:rPr>
              <a:t>AUTHORISES</a:t>
            </a:r>
            <a:endParaRPr lang="en-US" sz="1200" dirty="0"/>
          </a:p>
        </p:txBody>
      </p:sp>
      <p:sp>
        <p:nvSpPr>
          <p:cNvPr id="18" name="Text 16"/>
          <p:cNvSpPr/>
          <p:nvPr/>
        </p:nvSpPr>
        <p:spPr>
          <a:xfrm>
            <a:off x="5715000" y="2240280"/>
            <a:ext cx="1371600" cy="64008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Who approved</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deployment?</a:t>
            </a:r>
            <a:endParaRPr lang="en-US" sz="1000" dirty="0"/>
          </a:p>
        </p:txBody>
      </p:sp>
      <p:sp>
        <p:nvSpPr>
          <p:cNvPr id="19" name="Shape 17"/>
          <p:cNvSpPr/>
          <p:nvPr/>
        </p:nvSpPr>
        <p:spPr>
          <a:xfrm>
            <a:off x="7178040" y="2286000"/>
            <a:ext cx="182880" cy="0"/>
          </a:xfrm>
          <a:prstGeom prst="line">
            <a:avLst/>
          </a:prstGeom>
          <a:noFill/>
          <a:ln w="19050">
            <a:solidFill>
              <a:srgbClr val="6B7280"/>
            </a:solidFill>
            <a:prstDash val="solid"/>
            <a:tailEnd type="triangle"/>
          </a:ln>
        </p:spPr>
      </p:sp>
      <p:sp>
        <p:nvSpPr>
          <p:cNvPr id="20" name="Shape 18"/>
          <p:cNvSpPr/>
          <p:nvPr/>
        </p:nvSpPr>
        <p:spPr>
          <a:xfrm>
            <a:off x="7406640" y="1463040"/>
            <a:ext cx="1463040" cy="1645920"/>
          </a:xfrm>
          <a:prstGeom prst="roundRect">
            <a:avLst>
              <a:gd name="adj" fmla="val 3750"/>
            </a:avLst>
          </a:prstGeom>
          <a:solidFill>
            <a:srgbClr val="FEE2E2"/>
          </a:solidFill>
          <a:ln w="15240">
            <a:solidFill>
              <a:srgbClr val="B91C1C"/>
            </a:solidFill>
            <a:prstDash val="solid"/>
          </a:ln>
        </p:spPr>
      </p:sp>
      <p:sp>
        <p:nvSpPr>
          <p:cNvPr id="21" name="Text 19"/>
          <p:cNvSpPr/>
          <p:nvPr/>
        </p:nvSpPr>
        <p:spPr>
          <a:xfrm>
            <a:off x="7452360" y="1600200"/>
            <a:ext cx="1371600" cy="54864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EVIDENCE</a:t>
            </a:r>
            <a:endParaRPr lang="en-US" sz="1200" dirty="0"/>
          </a:p>
          <a:p>
            <a:pPr algn="ctr" indent="0" marL="0">
              <a:buNone/>
            </a:pPr>
            <a:r>
              <a:rPr lang="en-US" sz="1200" b="1" dirty="0">
                <a:solidFill>
                  <a:srgbClr val="1B2A4A"/>
                </a:solidFill>
                <a:latin typeface="Calibri" pitchFamily="34" charset="0"/>
                <a:ea typeface="Calibri" pitchFamily="34" charset="-122"/>
                <a:cs typeface="Calibri" pitchFamily="34" charset="-120"/>
              </a:rPr>
              <a:t>DEFENDS</a:t>
            </a:r>
            <a:endParaRPr lang="en-US" sz="1200" dirty="0"/>
          </a:p>
        </p:txBody>
      </p:sp>
      <p:sp>
        <p:nvSpPr>
          <p:cNvPr id="22" name="Text 20"/>
          <p:cNvSpPr/>
          <p:nvPr/>
        </p:nvSpPr>
        <p:spPr>
          <a:xfrm>
            <a:off x="7452360" y="2240280"/>
            <a:ext cx="1371600" cy="64008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Can you prove it</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to a regulator?</a:t>
            </a:r>
            <a:endParaRPr lang="en-US" sz="1000" dirty="0"/>
          </a:p>
        </p:txBody>
      </p:sp>
      <p:sp>
        <p:nvSpPr>
          <p:cNvPr id="23" name="Shape 21"/>
          <p:cNvSpPr/>
          <p:nvPr/>
        </p:nvSpPr>
        <p:spPr>
          <a:xfrm>
            <a:off x="457200" y="3474720"/>
            <a:ext cx="8229600" cy="640080"/>
          </a:xfrm>
          <a:prstGeom prst="roundRect">
            <a:avLst>
              <a:gd name="adj" fmla="val 11429"/>
            </a:avLst>
          </a:prstGeom>
          <a:solidFill>
            <a:srgbClr val="F3F4F6"/>
          </a:solidFill>
          <a:ln/>
          <a:effectLst>
            <a:outerShdw sx="100000" sy="100000" kx="0" ky="0" algn="bl" rotWithShape="0" blurRad="50800" dist="12700" dir="16200000">
              <a:srgbClr val="000000">
                <a:alpha val="8000"/>
              </a:srgbClr>
            </a:outerShdw>
          </a:effectLst>
        </p:spPr>
      </p:sp>
      <p:sp>
        <p:nvSpPr>
          <p:cNvPr id="24" name="Text 22"/>
          <p:cNvSpPr/>
          <p:nvPr/>
        </p:nvSpPr>
        <p:spPr>
          <a:xfrm>
            <a:off x="640080" y="3566160"/>
            <a:ext cx="7863840" cy="45720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Steps 2 through 5 require legal training. This chain is where the new legal work sits.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One AI System in Practice</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A financial-services platform offering banking, investment and insurance through an AI assistant</a:t>
            </a:r>
            <a:endParaRPr lang="en-US" sz="1200" dirty="0"/>
          </a:p>
        </p:txBody>
      </p:sp>
      <p:sp>
        <p:nvSpPr>
          <p:cNvPr id="4" name="Shape 2"/>
          <p:cNvSpPr/>
          <p:nvPr/>
        </p:nvSpPr>
        <p:spPr>
          <a:xfrm>
            <a:off x="3474720" y="1463040"/>
            <a:ext cx="2194560" cy="731520"/>
          </a:xfrm>
          <a:prstGeom prst="roundRect">
            <a:avLst>
              <a:gd name="adj" fmla="val 7500"/>
            </a:avLst>
          </a:prstGeom>
          <a:solidFill>
            <a:srgbClr val="DBEAFE"/>
          </a:solidFill>
          <a:ln w="15240">
            <a:solidFill>
              <a:srgbClr val="1E40AF"/>
            </a:solidFill>
            <a:prstDash val="solid"/>
          </a:ln>
        </p:spPr>
      </p:sp>
      <p:sp>
        <p:nvSpPr>
          <p:cNvPr id="5" name="Text 3"/>
          <p:cNvSpPr/>
          <p:nvPr/>
        </p:nvSpPr>
        <p:spPr>
          <a:xfrm>
            <a:off x="3474720" y="1554480"/>
            <a:ext cx="2194560" cy="548640"/>
          </a:xfrm>
          <a:prstGeom prst="rect">
            <a:avLst/>
          </a:prstGeom>
          <a:noFill/>
          <a:ln/>
        </p:spPr>
        <p:txBody>
          <a:bodyPr wrap="square" lIns="0" tIns="0" rIns="0" bIns="0" rtlCol="0" anchor="ctr"/>
          <a:lstStyle/>
          <a:p>
            <a:pPr algn="ctr" indent="0" marL="0">
              <a:buNone/>
            </a:pPr>
            <a:r>
              <a:rPr lang="en-US" sz="1400" b="1" dirty="0">
                <a:solidFill>
                  <a:srgbClr val="1E40AF"/>
                </a:solidFill>
                <a:latin typeface="Calibri" pitchFamily="34" charset="0"/>
                <a:ea typeface="Calibri" pitchFamily="34" charset="-122"/>
                <a:cs typeface="Calibri" pitchFamily="34" charset="-120"/>
              </a:rPr>
              <a:t>AI ASSISTANT</a:t>
            </a:r>
            <a:endParaRPr lang="en-US" sz="1400" dirty="0"/>
          </a:p>
        </p:txBody>
      </p:sp>
      <p:sp>
        <p:nvSpPr>
          <p:cNvPr id="6" name="Shape 4"/>
          <p:cNvSpPr/>
          <p:nvPr/>
        </p:nvSpPr>
        <p:spPr>
          <a:xfrm>
            <a:off x="548640" y="1554480"/>
            <a:ext cx="1280160" cy="548640"/>
          </a:xfrm>
          <a:prstGeom prst="roundRect">
            <a:avLst>
              <a:gd name="adj" fmla="val 10000"/>
            </a:avLst>
          </a:prstGeom>
          <a:solidFill>
            <a:srgbClr val="F3F4F6"/>
          </a:solidFill>
          <a:ln w="15240">
            <a:solidFill>
              <a:srgbClr val="E5E7EB"/>
            </a:solidFill>
            <a:prstDash val="solid"/>
          </a:ln>
        </p:spPr>
      </p:sp>
      <p:sp>
        <p:nvSpPr>
          <p:cNvPr id="7" name="Text 5"/>
          <p:cNvSpPr/>
          <p:nvPr/>
        </p:nvSpPr>
        <p:spPr>
          <a:xfrm>
            <a:off x="548640" y="1645920"/>
            <a:ext cx="1280160" cy="365760"/>
          </a:xfrm>
          <a:prstGeom prst="rect">
            <a:avLst/>
          </a:prstGeom>
          <a:noFill/>
          <a:ln/>
        </p:spPr>
        <p:txBody>
          <a:bodyPr wrap="square" lIns="0" tIns="0" rIns="0" bIns="0" rtlCol="0" anchor="ctr"/>
          <a:lstStyle/>
          <a:p>
            <a:pPr algn="ctr" indent="0" marL="0">
              <a:buNone/>
            </a:pPr>
            <a:r>
              <a:rPr lang="en-US" sz="1100" b="1" dirty="0">
                <a:solidFill>
                  <a:srgbClr val="374151"/>
                </a:solidFill>
                <a:latin typeface="Calibri" pitchFamily="34" charset="0"/>
                <a:ea typeface="Calibri" pitchFamily="34" charset="-122"/>
                <a:cs typeface="Calibri" pitchFamily="34" charset="-120"/>
              </a:rPr>
              <a:t>CUSTOMER</a:t>
            </a:r>
            <a:endParaRPr lang="en-US" sz="1100" dirty="0"/>
          </a:p>
        </p:txBody>
      </p:sp>
      <p:sp>
        <p:nvSpPr>
          <p:cNvPr id="8" name="Shape 6"/>
          <p:cNvSpPr/>
          <p:nvPr/>
        </p:nvSpPr>
        <p:spPr>
          <a:xfrm>
            <a:off x="1874520" y="1828800"/>
            <a:ext cx="1554480" cy="0"/>
          </a:xfrm>
          <a:prstGeom prst="line">
            <a:avLst/>
          </a:prstGeom>
          <a:noFill/>
          <a:ln w="19050">
            <a:solidFill>
              <a:srgbClr val="6B7280"/>
            </a:solidFill>
            <a:prstDash val="solid"/>
            <a:tailEnd type="triangle"/>
          </a:ln>
        </p:spPr>
      </p:sp>
      <p:sp>
        <p:nvSpPr>
          <p:cNvPr id="9" name="Shape 7"/>
          <p:cNvSpPr/>
          <p:nvPr/>
        </p:nvSpPr>
        <p:spPr>
          <a:xfrm>
            <a:off x="7315200" y="1554480"/>
            <a:ext cx="1280160" cy="548640"/>
          </a:xfrm>
          <a:prstGeom prst="roundRect">
            <a:avLst>
              <a:gd name="adj" fmla="val 10000"/>
            </a:avLst>
          </a:prstGeom>
          <a:solidFill>
            <a:srgbClr val="F3F4F6"/>
          </a:solidFill>
          <a:ln w="15240">
            <a:solidFill>
              <a:srgbClr val="E5E7EB"/>
            </a:solidFill>
            <a:prstDash val="solid"/>
          </a:ln>
        </p:spPr>
      </p:sp>
      <p:sp>
        <p:nvSpPr>
          <p:cNvPr id="10" name="Text 8"/>
          <p:cNvSpPr/>
          <p:nvPr/>
        </p:nvSpPr>
        <p:spPr>
          <a:xfrm>
            <a:off x="7315200" y="1554480"/>
            <a:ext cx="1280160" cy="548640"/>
          </a:xfrm>
          <a:prstGeom prst="rect">
            <a:avLst/>
          </a:prstGeom>
          <a:noFill/>
          <a:ln/>
        </p:spPr>
        <p:txBody>
          <a:bodyPr wrap="square" lIns="0" tIns="0" rIns="0" bIns="0" rtlCol="0" anchor="ctr"/>
          <a:lstStyle/>
          <a:p>
            <a:pPr algn="ctr" indent="0" marL="0">
              <a:buNone/>
            </a:pPr>
            <a:r>
              <a:rPr lang="en-US" sz="1000" b="1" dirty="0">
                <a:solidFill>
                  <a:srgbClr val="374151"/>
                </a:solidFill>
                <a:latin typeface="Calibri" pitchFamily="34" charset="0"/>
                <a:ea typeface="Calibri" pitchFamily="34" charset="-122"/>
                <a:cs typeface="Calibri" pitchFamily="34" charset="-120"/>
              </a:rPr>
              <a:t>MODEL</a:t>
            </a:r>
            <a:endParaRPr lang="en-US" sz="1000" dirty="0"/>
          </a:p>
          <a:p>
            <a:pPr algn="ctr" indent="0" marL="0">
              <a:buNone/>
            </a:pPr>
            <a:r>
              <a:rPr lang="en-US" sz="1000" b="1" dirty="0">
                <a:solidFill>
                  <a:srgbClr val="374151"/>
                </a:solidFill>
                <a:latin typeface="Calibri" pitchFamily="34" charset="0"/>
                <a:ea typeface="Calibri" pitchFamily="34" charset="-122"/>
                <a:cs typeface="Calibri" pitchFamily="34" charset="-120"/>
              </a:rPr>
              <a:t>PROVIDER</a:t>
            </a:r>
            <a:endParaRPr lang="en-US" sz="1000" dirty="0"/>
          </a:p>
        </p:txBody>
      </p:sp>
      <p:sp>
        <p:nvSpPr>
          <p:cNvPr id="11" name="Shape 9"/>
          <p:cNvSpPr/>
          <p:nvPr/>
        </p:nvSpPr>
        <p:spPr>
          <a:xfrm>
            <a:off x="5715000" y="1828800"/>
            <a:ext cx="1554480" cy="0"/>
          </a:xfrm>
          <a:prstGeom prst="line">
            <a:avLst/>
          </a:prstGeom>
          <a:noFill/>
          <a:ln w="19050">
            <a:solidFill>
              <a:srgbClr val="6B7280"/>
            </a:solidFill>
            <a:prstDash val="solid"/>
            <a:tailEnd type="triangle"/>
          </a:ln>
        </p:spPr>
      </p:sp>
      <p:sp>
        <p:nvSpPr>
          <p:cNvPr id="12" name="Shape 10"/>
          <p:cNvSpPr/>
          <p:nvPr/>
        </p:nvSpPr>
        <p:spPr>
          <a:xfrm>
            <a:off x="365760" y="2926080"/>
            <a:ext cx="1280160" cy="1188720"/>
          </a:xfrm>
          <a:prstGeom prst="roundRect">
            <a:avLst>
              <a:gd name="adj" fmla="val 4615"/>
            </a:avLst>
          </a:prstGeom>
          <a:solidFill>
            <a:srgbClr val="DBEAFE"/>
          </a:solidFill>
          <a:ln w="15240">
            <a:solidFill>
              <a:srgbClr val="1E40AF"/>
            </a:solidFill>
            <a:prstDash val="solid"/>
          </a:ln>
        </p:spPr>
      </p:sp>
      <p:sp>
        <p:nvSpPr>
          <p:cNvPr id="13" name="Text 11"/>
          <p:cNvSpPr/>
          <p:nvPr/>
        </p:nvSpPr>
        <p:spPr>
          <a:xfrm>
            <a:off x="384048" y="2999232"/>
            <a:ext cx="1243584" cy="457200"/>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DPDP</a:t>
            </a:r>
            <a:endParaRPr lang="en-US" sz="900" dirty="0"/>
          </a:p>
        </p:txBody>
      </p:sp>
      <p:sp>
        <p:nvSpPr>
          <p:cNvPr id="14" name="Text 12"/>
          <p:cNvSpPr/>
          <p:nvPr/>
        </p:nvSpPr>
        <p:spPr>
          <a:xfrm>
            <a:off x="384048" y="3474720"/>
            <a:ext cx="1243584" cy="548640"/>
          </a:xfrm>
          <a:prstGeom prst="rect">
            <a:avLst/>
          </a:prstGeom>
          <a:noFill/>
          <a:ln/>
        </p:spPr>
        <p:txBody>
          <a:bodyPr wrap="square" lIns="0" tIns="0" rIns="0" bIns="0" rtlCol="0" anchor="t"/>
          <a:lstStyle/>
          <a:p>
            <a:pPr algn="ctr" indent="0" marL="0">
              <a:buNone/>
            </a:pPr>
            <a:r>
              <a:rPr lang="en-US" sz="900" dirty="0">
                <a:solidFill>
                  <a:srgbClr val="374151"/>
                </a:solidFill>
                <a:latin typeface="Calibri" pitchFamily="34" charset="0"/>
                <a:ea typeface="Calibri" pitchFamily="34" charset="-122"/>
                <a:cs typeface="Calibri" pitchFamily="34" charset="-120"/>
              </a:rPr>
              <a:t>Can the data</a:t>
            </a:r>
            <a:endParaRPr lang="en-US" sz="900" dirty="0"/>
          </a:p>
          <a:p>
            <a:pPr algn="ctr" indent="0" marL="0">
              <a:buNone/>
            </a:pPr>
            <a:r>
              <a:rPr lang="en-US" sz="900" dirty="0">
                <a:solidFill>
                  <a:srgbClr val="374151"/>
                </a:solidFill>
                <a:latin typeface="Calibri" pitchFamily="34" charset="0"/>
                <a:ea typeface="Calibri" pitchFamily="34" charset="-122"/>
                <a:cs typeface="Calibri" pitchFamily="34" charset="-120"/>
              </a:rPr>
              <a:t>be processed?</a:t>
            </a:r>
            <a:endParaRPr lang="en-US" sz="900" dirty="0"/>
          </a:p>
        </p:txBody>
      </p:sp>
      <p:sp>
        <p:nvSpPr>
          <p:cNvPr id="15" name="Shape 13"/>
          <p:cNvSpPr/>
          <p:nvPr/>
        </p:nvSpPr>
        <p:spPr>
          <a:xfrm>
            <a:off x="1005840" y="2240280"/>
            <a:ext cx="0" cy="685800"/>
          </a:xfrm>
          <a:prstGeom prst="line">
            <a:avLst/>
          </a:prstGeom>
          <a:noFill/>
          <a:ln w="12700">
            <a:solidFill>
              <a:srgbClr val="E5E7EB"/>
            </a:solidFill>
            <a:prstDash val="dash"/>
          </a:ln>
        </p:spPr>
      </p:sp>
      <p:sp>
        <p:nvSpPr>
          <p:cNvPr id="16" name="Shape 14"/>
          <p:cNvSpPr/>
          <p:nvPr/>
        </p:nvSpPr>
        <p:spPr>
          <a:xfrm>
            <a:off x="1783080" y="2926080"/>
            <a:ext cx="1280160" cy="1188720"/>
          </a:xfrm>
          <a:prstGeom prst="roundRect">
            <a:avLst>
              <a:gd name="adj" fmla="val 4615"/>
            </a:avLst>
          </a:prstGeom>
          <a:solidFill>
            <a:srgbClr val="D1FAE5"/>
          </a:solidFill>
          <a:ln w="15240">
            <a:solidFill>
              <a:srgbClr val="047857"/>
            </a:solidFill>
            <a:prstDash val="solid"/>
          </a:ln>
        </p:spPr>
      </p:sp>
      <p:sp>
        <p:nvSpPr>
          <p:cNvPr id="17" name="Text 15"/>
          <p:cNvSpPr/>
          <p:nvPr/>
        </p:nvSpPr>
        <p:spPr>
          <a:xfrm>
            <a:off x="1801368" y="2999232"/>
            <a:ext cx="1243584" cy="457200"/>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CERT-In</a:t>
            </a:r>
            <a:endParaRPr lang="en-US" sz="900" dirty="0"/>
          </a:p>
        </p:txBody>
      </p:sp>
      <p:sp>
        <p:nvSpPr>
          <p:cNvPr id="18" name="Text 16"/>
          <p:cNvSpPr/>
          <p:nvPr/>
        </p:nvSpPr>
        <p:spPr>
          <a:xfrm>
            <a:off x="1801368" y="3474720"/>
            <a:ext cx="1243584" cy="548640"/>
          </a:xfrm>
          <a:prstGeom prst="rect">
            <a:avLst/>
          </a:prstGeom>
          <a:noFill/>
          <a:ln/>
        </p:spPr>
        <p:txBody>
          <a:bodyPr wrap="square" lIns="0" tIns="0" rIns="0" bIns="0" rtlCol="0" anchor="t"/>
          <a:lstStyle/>
          <a:p>
            <a:pPr algn="ctr" indent="0" marL="0">
              <a:buNone/>
            </a:pPr>
            <a:r>
              <a:rPr lang="en-US" sz="900" dirty="0">
                <a:solidFill>
                  <a:srgbClr val="374151"/>
                </a:solidFill>
                <a:latin typeface="Calibri" pitchFamily="34" charset="0"/>
                <a:ea typeface="Calibri" pitchFamily="34" charset="-122"/>
                <a:cs typeface="Calibri" pitchFamily="34" charset="-120"/>
              </a:rPr>
              <a:t>Was it</a:t>
            </a:r>
            <a:endParaRPr lang="en-US" sz="900" dirty="0"/>
          </a:p>
          <a:p>
            <a:pPr algn="ctr" indent="0" marL="0">
              <a:buNone/>
            </a:pPr>
            <a:r>
              <a:rPr lang="en-US" sz="900" dirty="0">
                <a:solidFill>
                  <a:srgbClr val="374151"/>
                </a:solidFill>
                <a:latin typeface="Calibri" pitchFamily="34" charset="0"/>
                <a:ea typeface="Calibri" pitchFamily="34" charset="-122"/>
                <a:cs typeface="Calibri" pitchFamily="34" charset="-120"/>
              </a:rPr>
              <a:t>secured?</a:t>
            </a:r>
            <a:endParaRPr lang="en-US" sz="900" dirty="0"/>
          </a:p>
        </p:txBody>
      </p:sp>
      <p:sp>
        <p:nvSpPr>
          <p:cNvPr id="19" name="Shape 17"/>
          <p:cNvSpPr/>
          <p:nvPr/>
        </p:nvSpPr>
        <p:spPr>
          <a:xfrm>
            <a:off x="2423160" y="2240280"/>
            <a:ext cx="0" cy="685800"/>
          </a:xfrm>
          <a:prstGeom prst="line">
            <a:avLst/>
          </a:prstGeom>
          <a:noFill/>
          <a:ln w="12700">
            <a:solidFill>
              <a:srgbClr val="E5E7EB"/>
            </a:solidFill>
            <a:prstDash val="dash"/>
          </a:ln>
        </p:spPr>
      </p:sp>
      <p:sp>
        <p:nvSpPr>
          <p:cNvPr id="20" name="Shape 18"/>
          <p:cNvSpPr/>
          <p:nvPr/>
        </p:nvSpPr>
        <p:spPr>
          <a:xfrm>
            <a:off x="3200400" y="2926080"/>
            <a:ext cx="1280160" cy="1188720"/>
          </a:xfrm>
          <a:prstGeom prst="roundRect">
            <a:avLst>
              <a:gd name="adj" fmla="val 4615"/>
            </a:avLst>
          </a:prstGeom>
          <a:solidFill>
            <a:srgbClr val="FEF3C7"/>
          </a:solidFill>
          <a:ln w="15240">
            <a:solidFill>
              <a:srgbClr val="B45309"/>
            </a:solidFill>
            <a:prstDash val="solid"/>
          </a:ln>
        </p:spPr>
      </p:sp>
      <p:sp>
        <p:nvSpPr>
          <p:cNvPr id="21" name="Text 19"/>
          <p:cNvSpPr/>
          <p:nvPr/>
        </p:nvSpPr>
        <p:spPr>
          <a:xfrm>
            <a:off x="3218688" y="2999232"/>
            <a:ext cx="1243584" cy="457200"/>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SECTOR</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REGULATOR</a:t>
            </a:r>
            <a:endParaRPr lang="en-US" sz="900" dirty="0"/>
          </a:p>
        </p:txBody>
      </p:sp>
      <p:sp>
        <p:nvSpPr>
          <p:cNvPr id="22" name="Text 20"/>
          <p:cNvSpPr/>
          <p:nvPr/>
        </p:nvSpPr>
        <p:spPr>
          <a:xfrm>
            <a:off x="3218688" y="3474720"/>
            <a:ext cx="1243584" cy="548640"/>
          </a:xfrm>
          <a:prstGeom prst="rect">
            <a:avLst/>
          </a:prstGeom>
          <a:noFill/>
          <a:ln/>
        </p:spPr>
        <p:txBody>
          <a:bodyPr wrap="square" lIns="0" tIns="0" rIns="0" bIns="0" rtlCol="0" anchor="t"/>
          <a:lstStyle/>
          <a:p>
            <a:pPr algn="ctr" indent="0" marL="0">
              <a:buNone/>
            </a:pPr>
            <a:r>
              <a:rPr lang="en-US" sz="900" dirty="0">
                <a:solidFill>
                  <a:srgbClr val="374151"/>
                </a:solidFill>
                <a:latin typeface="Calibri" pitchFamily="34" charset="0"/>
                <a:ea typeface="Calibri" pitchFamily="34" charset="-122"/>
                <a:cs typeface="Calibri" pitchFamily="34" charset="-120"/>
              </a:rPr>
              <a:t>Can it be</a:t>
            </a:r>
            <a:endParaRPr lang="en-US" sz="900" dirty="0"/>
          </a:p>
          <a:p>
            <a:pPr algn="ctr" indent="0" marL="0">
              <a:buNone/>
            </a:pPr>
            <a:r>
              <a:rPr lang="en-US" sz="900" dirty="0">
                <a:solidFill>
                  <a:srgbClr val="374151"/>
                </a:solidFill>
                <a:latin typeface="Calibri" pitchFamily="34" charset="0"/>
                <a:ea typeface="Calibri" pitchFamily="34" charset="-122"/>
                <a:cs typeface="Calibri" pitchFamily="34" charset="-120"/>
              </a:rPr>
              <a:t>deployed?</a:t>
            </a:r>
            <a:endParaRPr lang="en-US" sz="900" dirty="0"/>
          </a:p>
        </p:txBody>
      </p:sp>
      <p:sp>
        <p:nvSpPr>
          <p:cNvPr id="23" name="Shape 21"/>
          <p:cNvSpPr/>
          <p:nvPr/>
        </p:nvSpPr>
        <p:spPr>
          <a:xfrm>
            <a:off x="3840480" y="2240280"/>
            <a:ext cx="0" cy="685800"/>
          </a:xfrm>
          <a:prstGeom prst="line">
            <a:avLst/>
          </a:prstGeom>
          <a:noFill/>
          <a:ln w="12700">
            <a:solidFill>
              <a:srgbClr val="E5E7EB"/>
            </a:solidFill>
            <a:prstDash val="dash"/>
          </a:ln>
        </p:spPr>
      </p:sp>
      <p:sp>
        <p:nvSpPr>
          <p:cNvPr id="24" name="Shape 22"/>
          <p:cNvSpPr/>
          <p:nvPr/>
        </p:nvSpPr>
        <p:spPr>
          <a:xfrm>
            <a:off x="4617720" y="2926080"/>
            <a:ext cx="1280160" cy="1188720"/>
          </a:xfrm>
          <a:prstGeom prst="roundRect">
            <a:avLst>
              <a:gd name="adj" fmla="val 4615"/>
            </a:avLst>
          </a:prstGeom>
          <a:solidFill>
            <a:srgbClr val="EDE9FE"/>
          </a:solidFill>
          <a:ln w="15240">
            <a:solidFill>
              <a:srgbClr val="6D28D9"/>
            </a:solidFill>
            <a:prstDash val="solid"/>
          </a:ln>
        </p:spPr>
      </p:sp>
      <p:sp>
        <p:nvSpPr>
          <p:cNvPr id="25" name="Text 23"/>
          <p:cNvSpPr/>
          <p:nvPr/>
        </p:nvSpPr>
        <p:spPr>
          <a:xfrm>
            <a:off x="4636008" y="2999232"/>
            <a:ext cx="1243584" cy="457200"/>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CONTRACTS</a:t>
            </a:r>
            <a:endParaRPr lang="en-US" sz="900" dirty="0"/>
          </a:p>
        </p:txBody>
      </p:sp>
      <p:sp>
        <p:nvSpPr>
          <p:cNvPr id="26" name="Text 24"/>
          <p:cNvSpPr/>
          <p:nvPr/>
        </p:nvSpPr>
        <p:spPr>
          <a:xfrm>
            <a:off x="4636008" y="3474720"/>
            <a:ext cx="1243584" cy="548640"/>
          </a:xfrm>
          <a:prstGeom prst="rect">
            <a:avLst/>
          </a:prstGeom>
          <a:noFill/>
          <a:ln/>
        </p:spPr>
        <p:txBody>
          <a:bodyPr wrap="square" lIns="0" tIns="0" rIns="0" bIns="0" rtlCol="0" anchor="t"/>
          <a:lstStyle/>
          <a:p>
            <a:pPr algn="ctr" indent="0" marL="0">
              <a:buNone/>
            </a:pPr>
            <a:r>
              <a:rPr lang="en-US" sz="900" dirty="0">
                <a:solidFill>
                  <a:srgbClr val="374151"/>
                </a:solidFill>
                <a:latin typeface="Calibri" pitchFamily="34" charset="0"/>
                <a:ea typeface="Calibri" pitchFamily="34" charset="-122"/>
                <a:cs typeface="Calibri" pitchFamily="34" charset="-120"/>
              </a:rPr>
              <a:t>Who bears</a:t>
            </a:r>
            <a:endParaRPr lang="en-US" sz="900" dirty="0"/>
          </a:p>
          <a:p>
            <a:pPr algn="ctr" indent="0" marL="0">
              <a:buNone/>
            </a:pPr>
            <a:r>
              <a:rPr lang="en-US" sz="900" dirty="0">
                <a:solidFill>
                  <a:srgbClr val="374151"/>
                </a:solidFill>
                <a:latin typeface="Calibri" pitchFamily="34" charset="0"/>
                <a:ea typeface="Calibri" pitchFamily="34" charset="-122"/>
                <a:cs typeface="Calibri" pitchFamily="34" charset="-120"/>
              </a:rPr>
              <a:t>the risk?</a:t>
            </a:r>
            <a:endParaRPr lang="en-US" sz="900" dirty="0"/>
          </a:p>
        </p:txBody>
      </p:sp>
      <p:sp>
        <p:nvSpPr>
          <p:cNvPr id="27" name="Shape 25"/>
          <p:cNvSpPr/>
          <p:nvPr/>
        </p:nvSpPr>
        <p:spPr>
          <a:xfrm>
            <a:off x="5257800" y="2240280"/>
            <a:ext cx="0" cy="685800"/>
          </a:xfrm>
          <a:prstGeom prst="line">
            <a:avLst/>
          </a:prstGeom>
          <a:noFill/>
          <a:ln w="12700">
            <a:solidFill>
              <a:srgbClr val="E5E7EB"/>
            </a:solidFill>
            <a:prstDash val="dash"/>
          </a:ln>
        </p:spPr>
      </p:sp>
      <p:sp>
        <p:nvSpPr>
          <p:cNvPr id="28" name="Shape 26"/>
          <p:cNvSpPr/>
          <p:nvPr/>
        </p:nvSpPr>
        <p:spPr>
          <a:xfrm>
            <a:off x="6035040" y="2926080"/>
            <a:ext cx="1280160" cy="1188720"/>
          </a:xfrm>
          <a:prstGeom prst="roundRect">
            <a:avLst>
              <a:gd name="adj" fmla="val 4615"/>
            </a:avLst>
          </a:prstGeom>
          <a:solidFill>
            <a:srgbClr val="FEE2E2"/>
          </a:solidFill>
          <a:ln w="15240">
            <a:solidFill>
              <a:srgbClr val="B91C1C"/>
            </a:solidFill>
            <a:prstDash val="solid"/>
          </a:ln>
        </p:spPr>
      </p:sp>
      <p:sp>
        <p:nvSpPr>
          <p:cNvPr id="29" name="Text 27"/>
          <p:cNvSpPr/>
          <p:nvPr/>
        </p:nvSpPr>
        <p:spPr>
          <a:xfrm>
            <a:off x="6053328" y="2999232"/>
            <a:ext cx="1243584" cy="457200"/>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PROFESSIONAL</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DUTY</a:t>
            </a:r>
            <a:endParaRPr lang="en-US" sz="900" dirty="0"/>
          </a:p>
        </p:txBody>
      </p:sp>
      <p:sp>
        <p:nvSpPr>
          <p:cNvPr id="30" name="Text 28"/>
          <p:cNvSpPr/>
          <p:nvPr/>
        </p:nvSpPr>
        <p:spPr>
          <a:xfrm>
            <a:off x="6053328" y="3474720"/>
            <a:ext cx="1243584" cy="548640"/>
          </a:xfrm>
          <a:prstGeom prst="rect">
            <a:avLst/>
          </a:prstGeom>
          <a:noFill/>
          <a:ln/>
        </p:spPr>
        <p:txBody>
          <a:bodyPr wrap="square" lIns="0" tIns="0" rIns="0" bIns="0" rtlCol="0" anchor="t"/>
          <a:lstStyle/>
          <a:p>
            <a:pPr algn="ctr" indent="0" marL="0">
              <a:buNone/>
            </a:pPr>
            <a:r>
              <a:rPr lang="en-US" sz="900" dirty="0">
                <a:solidFill>
                  <a:srgbClr val="374151"/>
                </a:solidFill>
                <a:latin typeface="Calibri" pitchFamily="34" charset="0"/>
                <a:ea typeface="Calibri" pitchFamily="34" charset="-122"/>
                <a:cs typeface="Calibri" pitchFamily="34" charset="-120"/>
              </a:rPr>
              <a:t>Who</a:t>
            </a:r>
            <a:endParaRPr lang="en-US" sz="900" dirty="0"/>
          </a:p>
          <a:p>
            <a:pPr algn="ctr" indent="0" marL="0">
              <a:buNone/>
            </a:pPr>
            <a:r>
              <a:rPr lang="en-US" sz="900" dirty="0">
                <a:solidFill>
                  <a:srgbClr val="374151"/>
                </a:solidFill>
                <a:latin typeface="Calibri" pitchFamily="34" charset="0"/>
                <a:ea typeface="Calibri" pitchFamily="34" charset="-122"/>
                <a:cs typeface="Calibri" pitchFamily="34" charset="-120"/>
              </a:rPr>
              <a:t>verifies?</a:t>
            </a:r>
            <a:endParaRPr lang="en-US" sz="900" dirty="0"/>
          </a:p>
        </p:txBody>
      </p:sp>
      <p:sp>
        <p:nvSpPr>
          <p:cNvPr id="31" name="Shape 29"/>
          <p:cNvSpPr/>
          <p:nvPr/>
        </p:nvSpPr>
        <p:spPr>
          <a:xfrm>
            <a:off x="6675120" y="2240280"/>
            <a:ext cx="0" cy="685800"/>
          </a:xfrm>
          <a:prstGeom prst="line">
            <a:avLst/>
          </a:prstGeom>
          <a:noFill/>
          <a:ln w="12700">
            <a:solidFill>
              <a:srgbClr val="E5E7EB"/>
            </a:solidFill>
            <a:prstDash val="dash"/>
          </a:ln>
        </p:spPr>
      </p:sp>
      <p:sp>
        <p:nvSpPr>
          <p:cNvPr id="32" name="Shape 30"/>
          <p:cNvSpPr/>
          <p:nvPr/>
        </p:nvSpPr>
        <p:spPr>
          <a:xfrm>
            <a:off x="7452360" y="2926080"/>
            <a:ext cx="1280160" cy="1188720"/>
          </a:xfrm>
          <a:prstGeom prst="roundRect">
            <a:avLst>
              <a:gd name="adj" fmla="val 4615"/>
            </a:avLst>
          </a:prstGeom>
          <a:solidFill>
            <a:srgbClr val="F3F4F6"/>
          </a:solidFill>
          <a:ln w="15240">
            <a:solidFill>
              <a:srgbClr val="E5E7EB"/>
            </a:solidFill>
            <a:prstDash val="solid"/>
          </a:ln>
        </p:spPr>
      </p:sp>
      <p:sp>
        <p:nvSpPr>
          <p:cNvPr id="33" name="Text 31"/>
          <p:cNvSpPr/>
          <p:nvPr/>
        </p:nvSpPr>
        <p:spPr>
          <a:xfrm>
            <a:off x="7470648" y="2999232"/>
            <a:ext cx="1243584" cy="457200"/>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CONSUMER</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LAW</a:t>
            </a:r>
            <a:endParaRPr lang="en-US" sz="900" dirty="0"/>
          </a:p>
        </p:txBody>
      </p:sp>
      <p:sp>
        <p:nvSpPr>
          <p:cNvPr id="34" name="Text 32"/>
          <p:cNvSpPr/>
          <p:nvPr/>
        </p:nvSpPr>
        <p:spPr>
          <a:xfrm>
            <a:off x="7470648" y="3474720"/>
            <a:ext cx="1243584" cy="548640"/>
          </a:xfrm>
          <a:prstGeom prst="rect">
            <a:avLst/>
          </a:prstGeom>
          <a:noFill/>
          <a:ln/>
        </p:spPr>
        <p:txBody>
          <a:bodyPr wrap="square" lIns="0" tIns="0" rIns="0" bIns="0" rtlCol="0" anchor="t"/>
          <a:lstStyle/>
          <a:p>
            <a:pPr algn="ctr" indent="0" marL="0">
              <a:buNone/>
            </a:pPr>
            <a:r>
              <a:rPr lang="en-US" sz="900" dirty="0">
                <a:solidFill>
                  <a:srgbClr val="374151"/>
                </a:solidFill>
                <a:latin typeface="Calibri" pitchFamily="34" charset="0"/>
                <a:ea typeface="Calibri" pitchFamily="34" charset="-122"/>
                <a:cs typeface="Calibri" pitchFamily="34" charset="-120"/>
              </a:rPr>
              <a:t>Was it</a:t>
            </a:r>
            <a:endParaRPr lang="en-US" sz="900" dirty="0"/>
          </a:p>
          <a:p>
            <a:pPr algn="ctr" indent="0" marL="0">
              <a:buNone/>
            </a:pPr>
            <a:r>
              <a:rPr lang="en-US" sz="900" dirty="0">
                <a:solidFill>
                  <a:srgbClr val="374151"/>
                </a:solidFill>
                <a:latin typeface="Calibri" pitchFamily="34" charset="0"/>
                <a:ea typeface="Calibri" pitchFamily="34" charset="-122"/>
                <a:cs typeface="Calibri" pitchFamily="34" charset="-120"/>
              </a:rPr>
              <a:t>fair?</a:t>
            </a:r>
            <a:endParaRPr lang="en-US" sz="900" dirty="0"/>
          </a:p>
        </p:txBody>
      </p:sp>
      <p:sp>
        <p:nvSpPr>
          <p:cNvPr id="35" name="Shape 33"/>
          <p:cNvSpPr/>
          <p:nvPr/>
        </p:nvSpPr>
        <p:spPr>
          <a:xfrm>
            <a:off x="8092440" y="2240280"/>
            <a:ext cx="0" cy="685800"/>
          </a:xfrm>
          <a:prstGeom prst="line">
            <a:avLst/>
          </a:prstGeom>
          <a:noFill/>
          <a:ln w="12700">
            <a:solidFill>
              <a:srgbClr val="E5E7EB"/>
            </a:solidFill>
            <a:prstDash val="dash"/>
          </a:ln>
        </p:spPr>
      </p:sp>
      <p:sp>
        <p:nvSpPr>
          <p:cNvPr id="36" name="Text 34"/>
          <p:cNvSpPr/>
          <p:nvPr/>
        </p:nvSpPr>
        <p:spPr>
          <a:xfrm>
            <a:off x="365760" y="4389120"/>
            <a:ext cx="8412480" cy="27432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Each regime generates compliance obligations. Each obligation is a job.</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One AI System. Six Governance Regimes.</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Regulatory Parallelism: 23 instances of functionally parallel mandates across 18 binding instruments</a:t>
            </a:r>
            <a:endParaRPr lang="en-US" sz="1200" dirty="0"/>
          </a:p>
        </p:txBody>
      </p:sp>
      <p:sp>
        <p:nvSpPr>
          <p:cNvPr id="4" name="Shape 2"/>
          <p:cNvSpPr/>
          <p:nvPr/>
        </p:nvSpPr>
        <p:spPr>
          <a:xfrm>
            <a:off x="3566160" y="1645920"/>
            <a:ext cx="2011680" cy="1188720"/>
          </a:xfrm>
          <a:prstGeom prst="ellipse">
            <a:avLst/>
          </a:prstGeom>
          <a:solidFill>
            <a:srgbClr val="DBEAFE"/>
          </a:solidFill>
          <a:ln w="25400">
            <a:solidFill>
              <a:srgbClr val="1E40AF"/>
            </a:solidFill>
            <a:prstDash val="solid"/>
          </a:ln>
        </p:spPr>
      </p:sp>
      <p:sp>
        <p:nvSpPr>
          <p:cNvPr id="5" name="Text 3"/>
          <p:cNvSpPr/>
          <p:nvPr/>
        </p:nvSpPr>
        <p:spPr>
          <a:xfrm>
            <a:off x="3566160" y="1737360"/>
            <a:ext cx="2011680" cy="1005840"/>
          </a:xfrm>
          <a:prstGeom prst="rect">
            <a:avLst/>
          </a:prstGeom>
          <a:noFill/>
          <a:ln/>
        </p:spPr>
        <p:txBody>
          <a:bodyPr wrap="square" lIns="0" tIns="0" rIns="0" bIns="0" rtlCol="0" anchor="ctr"/>
          <a:lstStyle/>
          <a:p>
            <a:pPr algn="ctr" indent="0" marL="0">
              <a:buNone/>
            </a:pPr>
            <a:r>
              <a:rPr lang="en-US" sz="1600" b="1" dirty="0">
                <a:solidFill>
                  <a:srgbClr val="1E40AF"/>
                </a:solidFill>
                <a:latin typeface="Calibri" pitchFamily="34" charset="0"/>
                <a:ea typeface="Calibri" pitchFamily="34" charset="-122"/>
                <a:cs typeface="Calibri" pitchFamily="34" charset="-120"/>
              </a:rPr>
              <a:t>AI</a:t>
            </a:r>
            <a:endParaRPr lang="en-US" sz="1600" dirty="0"/>
          </a:p>
          <a:p>
            <a:pPr algn="ctr" indent="0" marL="0">
              <a:buNone/>
            </a:pPr>
            <a:r>
              <a:rPr lang="en-US" sz="1600" b="1" dirty="0">
                <a:solidFill>
                  <a:srgbClr val="1E40AF"/>
                </a:solidFill>
                <a:latin typeface="Calibri" pitchFamily="34" charset="0"/>
                <a:ea typeface="Calibri" pitchFamily="34" charset="-122"/>
                <a:cs typeface="Calibri" pitchFamily="34" charset="-120"/>
              </a:rPr>
              <a:t>SYSTEM</a:t>
            </a:r>
            <a:endParaRPr lang="en-US" sz="1600" dirty="0"/>
          </a:p>
        </p:txBody>
      </p:sp>
      <p:sp>
        <p:nvSpPr>
          <p:cNvPr id="6" name="Shape 4"/>
          <p:cNvSpPr/>
          <p:nvPr/>
        </p:nvSpPr>
        <p:spPr>
          <a:xfrm>
            <a:off x="3291840" y="822960"/>
            <a:ext cx="2560320" cy="548640"/>
          </a:xfrm>
          <a:prstGeom prst="roundRect">
            <a:avLst>
              <a:gd name="adj" fmla="val 10000"/>
            </a:avLst>
          </a:prstGeom>
          <a:solidFill>
            <a:srgbClr val="DBEAFE"/>
          </a:solidFill>
          <a:ln w="15240">
            <a:solidFill>
              <a:srgbClr val="1E40AF"/>
            </a:solidFill>
            <a:prstDash val="solid"/>
          </a:ln>
        </p:spPr>
      </p:sp>
      <p:sp>
        <p:nvSpPr>
          <p:cNvPr id="7" name="Text 5"/>
          <p:cNvSpPr/>
          <p:nvPr/>
        </p:nvSpPr>
        <p:spPr>
          <a:xfrm>
            <a:off x="3291840" y="868680"/>
            <a:ext cx="2560320" cy="457200"/>
          </a:xfrm>
          <a:prstGeom prst="rect">
            <a:avLst/>
          </a:prstGeom>
          <a:noFill/>
          <a:ln/>
        </p:spPr>
        <p:txBody>
          <a:bodyPr wrap="square" lIns="0" tIns="0" rIns="0" bIns="0" rtlCol="0" anchor="ctr"/>
          <a:lstStyle/>
          <a:p>
            <a:pPr algn="ctr" indent="0" marL="0">
              <a:buNone/>
            </a:pPr>
            <a:r>
              <a:rPr lang="en-US" sz="1000" b="1" dirty="0">
                <a:solidFill>
                  <a:srgbClr val="1E40AF"/>
                </a:solidFill>
                <a:latin typeface="Calibri" pitchFamily="34" charset="0"/>
                <a:ea typeface="Calibri" pitchFamily="34" charset="-122"/>
                <a:cs typeface="Calibri" pitchFamily="34" charset="-120"/>
              </a:rPr>
              <a:t>DPDP — Can the data be processed?</a:t>
            </a:r>
            <a:endParaRPr lang="en-US" sz="1000" dirty="0"/>
          </a:p>
        </p:txBody>
      </p:sp>
      <p:sp>
        <p:nvSpPr>
          <p:cNvPr id="8" name="Shape 6"/>
          <p:cNvSpPr/>
          <p:nvPr/>
        </p:nvSpPr>
        <p:spPr>
          <a:xfrm>
            <a:off x="457200" y="1828800"/>
            <a:ext cx="2560320" cy="548640"/>
          </a:xfrm>
          <a:prstGeom prst="roundRect">
            <a:avLst>
              <a:gd name="adj" fmla="val 10000"/>
            </a:avLst>
          </a:prstGeom>
          <a:solidFill>
            <a:srgbClr val="D1FAE5"/>
          </a:solidFill>
          <a:ln w="15240">
            <a:solidFill>
              <a:srgbClr val="047857"/>
            </a:solidFill>
            <a:prstDash val="solid"/>
          </a:ln>
        </p:spPr>
      </p:sp>
      <p:sp>
        <p:nvSpPr>
          <p:cNvPr id="9" name="Text 7"/>
          <p:cNvSpPr/>
          <p:nvPr/>
        </p:nvSpPr>
        <p:spPr>
          <a:xfrm>
            <a:off x="457200" y="1874520"/>
            <a:ext cx="2560320" cy="457200"/>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CERT-In — Was it secured?</a:t>
            </a:r>
            <a:endParaRPr lang="en-US" sz="1000" dirty="0"/>
          </a:p>
        </p:txBody>
      </p:sp>
      <p:sp>
        <p:nvSpPr>
          <p:cNvPr id="10" name="Shape 8"/>
          <p:cNvSpPr/>
          <p:nvPr/>
        </p:nvSpPr>
        <p:spPr>
          <a:xfrm>
            <a:off x="6126480" y="1828800"/>
            <a:ext cx="2560320" cy="548640"/>
          </a:xfrm>
          <a:prstGeom prst="roundRect">
            <a:avLst>
              <a:gd name="adj" fmla="val 10000"/>
            </a:avLst>
          </a:prstGeom>
          <a:solidFill>
            <a:srgbClr val="FEF3C7"/>
          </a:solidFill>
          <a:ln w="15240">
            <a:solidFill>
              <a:srgbClr val="B45309"/>
            </a:solidFill>
            <a:prstDash val="solid"/>
          </a:ln>
        </p:spPr>
      </p:sp>
      <p:sp>
        <p:nvSpPr>
          <p:cNvPr id="11" name="Text 9"/>
          <p:cNvSpPr/>
          <p:nvPr/>
        </p:nvSpPr>
        <p:spPr>
          <a:xfrm>
            <a:off x="6126480" y="1874520"/>
            <a:ext cx="2560320" cy="457200"/>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Sector Regulator — Can it be deployed?</a:t>
            </a:r>
            <a:endParaRPr lang="en-US" sz="1000" dirty="0"/>
          </a:p>
        </p:txBody>
      </p:sp>
      <p:sp>
        <p:nvSpPr>
          <p:cNvPr id="12" name="Shape 10"/>
          <p:cNvSpPr/>
          <p:nvPr/>
        </p:nvSpPr>
        <p:spPr>
          <a:xfrm>
            <a:off x="457200" y="3291840"/>
            <a:ext cx="2377440" cy="548640"/>
          </a:xfrm>
          <a:prstGeom prst="roundRect">
            <a:avLst>
              <a:gd name="adj" fmla="val 10000"/>
            </a:avLst>
          </a:prstGeom>
          <a:solidFill>
            <a:srgbClr val="EDE9FE"/>
          </a:solidFill>
          <a:ln w="15240">
            <a:solidFill>
              <a:srgbClr val="6D28D9"/>
            </a:solidFill>
            <a:prstDash val="solid"/>
          </a:ln>
        </p:spPr>
      </p:sp>
      <p:sp>
        <p:nvSpPr>
          <p:cNvPr id="13" name="Text 11"/>
          <p:cNvSpPr/>
          <p:nvPr/>
        </p:nvSpPr>
        <p:spPr>
          <a:xfrm>
            <a:off x="457200" y="3337560"/>
            <a:ext cx="2377440" cy="457200"/>
          </a:xfrm>
          <a:prstGeom prst="rect">
            <a:avLst/>
          </a:prstGeom>
          <a:noFill/>
          <a:ln/>
        </p:spPr>
        <p:txBody>
          <a:bodyPr wrap="square" lIns="0" tIns="0" rIns="0" bIns="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Contracts — Who bears the risk?</a:t>
            </a:r>
            <a:endParaRPr lang="en-US" sz="1000" dirty="0"/>
          </a:p>
        </p:txBody>
      </p:sp>
      <p:sp>
        <p:nvSpPr>
          <p:cNvPr id="14" name="Shape 12"/>
          <p:cNvSpPr/>
          <p:nvPr/>
        </p:nvSpPr>
        <p:spPr>
          <a:xfrm>
            <a:off x="3383280" y="3291840"/>
            <a:ext cx="2377440" cy="548640"/>
          </a:xfrm>
          <a:prstGeom prst="roundRect">
            <a:avLst>
              <a:gd name="adj" fmla="val 10000"/>
            </a:avLst>
          </a:prstGeom>
          <a:solidFill>
            <a:srgbClr val="FEE2E2"/>
          </a:solidFill>
          <a:ln w="15240">
            <a:solidFill>
              <a:srgbClr val="B91C1C"/>
            </a:solidFill>
            <a:prstDash val="solid"/>
          </a:ln>
        </p:spPr>
      </p:sp>
      <p:sp>
        <p:nvSpPr>
          <p:cNvPr id="15" name="Text 13"/>
          <p:cNvSpPr/>
          <p:nvPr/>
        </p:nvSpPr>
        <p:spPr>
          <a:xfrm>
            <a:off x="3383280" y="3337560"/>
            <a:ext cx="2377440" cy="457200"/>
          </a:xfrm>
          <a:prstGeom prst="rect">
            <a:avLst/>
          </a:prstGeom>
          <a:noFill/>
          <a:ln/>
        </p:spPr>
        <p:txBody>
          <a:bodyPr wrap="square" lIns="0" tIns="0" rIns="0" bIns="0" rtlCol="0" anchor="ctr"/>
          <a:lstStyle/>
          <a:p>
            <a:pPr algn="ctr" indent="0" marL="0">
              <a:buNone/>
            </a:pPr>
            <a:r>
              <a:rPr lang="en-US" sz="1000" b="1" dirty="0">
                <a:solidFill>
                  <a:srgbClr val="B91C1C"/>
                </a:solidFill>
                <a:latin typeface="Calibri" pitchFamily="34" charset="0"/>
                <a:ea typeface="Calibri" pitchFamily="34" charset="-122"/>
                <a:cs typeface="Calibri" pitchFamily="34" charset="-120"/>
              </a:rPr>
              <a:t>Professional Duty — Who verifies?</a:t>
            </a:r>
            <a:endParaRPr lang="en-US" sz="1000" dirty="0"/>
          </a:p>
        </p:txBody>
      </p:sp>
      <p:sp>
        <p:nvSpPr>
          <p:cNvPr id="16" name="Shape 14"/>
          <p:cNvSpPr/>
          <p:nvPr/>
        </p:nvSpPr>
        <p:spPr>
          <a:xfrm>
            <a:off x="6309360" y="3291840"/>
            <a:ext cx="2377440" cy="548640"/>
          </a:xfrm>
          <a:prstGeom prst="roundRect">
            <a:avLst>
              <a:gd name="adj" fmla="val 10000"/>
            </a:avLst>
          </a:prstGeom>
          <a:solidFill>
            <a:srgbClr val="F3F4F6"/>
          </a:solidFill>
          <a:ln w="15240">
            <a:solidFill>
              <a:srgbClr val="E5E7EB"/>
            </a:solidFill>
            <a:prstDash val="solid"/>
          </a:ln>
        </p:spPr>
      </p:sp>
      <p:sp>
        <p:nvSpPr>
          <p:cNvPr id="17" name="Text 15"/>
          <p:cNvSpPr/>
          <p:nvPr/>
        </p:nvSpPr>
        <p:spPr>
          <a:xfrm>
            <a:off x="6309360" y="3337560"/>
            <a:ext cx="2377440" cy="457200"/>
          </a:xfrm>
          <a:prstGeom prst="rect">
            <a:avLst/>
          </a:prstGeom>
          <a:noFill/>
          <a:ln/>
        </p:spPr>
        <p:txBody>
          <a:bodyPr wrap="square" lIns="0" tIns="0" rIns="0" bIns="0" rtlCol="0" anchor="ctr"/>
          <a:lstStyle/>
          <a:p>
            <a:pPr algn="ctr" indent="0" marL="0">
              <a:buNone/>
            </a:pPr>
            <a:r>
              <a:rPr lang="en-US" sz="1000" b="1" dirty="0">
                <a:solidFill>
                  <a:srgbClr val="374151"/>
                </a:solidFill>
                <a:latin typeface="Calibri" pitchFamily="34" charset="0"/>
                <a:ea typeface="Calibri" pitchFamily="34" charset="-122"/>
                <a:cs typeface="Calibri" pitchFamily="34" charset="-120"/>
              </a:rPr>
              <a:t>Consumer Law — Was it fair?</a:t>
            </a:r>
            <a:endParaRPr lang="en-US" sz="1000" dirty="0"/>
          </a:p>
        </p:txBody>
      </p:sp>
      <p:sp>
        <p:nvSpPr>
          <p:cNvPr id="18" name="Shape 16"/>
          <p:cNvSpPr/>
          <p:nvPr/>
        </p:nvSpPr>
        <p:spPr>
          <a:xfrm>
            <a:off x="4572000" y="1417320"/>
            <a:ext cx="0" cy="274320"/>
          </a:xfrm>
          <a:prstGeom prst="line">
            <a:avLst/>
          </a:prstGeom>
          <a:noFill/>
          <a:ln w="15240">
            <a:solidFill>
              <a:srgbClr val="E5E7EB"/>
            </a:solidFill>
            <a:prstDash val="solid"/>
          </a:ln>
        </p:spPr>
      </p:sp>
      <p:sp>
        <p:nvSpPr>
          <p:cNvPr id="19" name="Shape 17"/>
          <p:cNvSpPr/>
          <p:nvPr/>
        </p:nvSpPr>
        <p:spPr>
          <a:xfrm>
            <a:off x="3063240" y="2103120"/>
            <a:ext cx="548640" cy="0"/>
          </a:xfrm>
          <a:prstGeom prst="line">
            <a:avLst/>
          </a:prstGeom>
          <a:noFill/>
          <a:ln w="15240">
            <a:solidFill>
              <a:srgbClr val="E5E7EB"/>
            </a:solidFill>
            <a:prstDash val="solid"/>
          </a:ln>
        </p:spPr>
      </p:sp>
      <p:sp>
        <p:nvSpPr>
          <p:cNvPr id="20" name="Shape 18"/>
          <p:cNvSpPr/>
          <p:nvPr/>
        </p:nvSpPr>
        <p:spPr>
          <a:xfrm>
            <a:off x="5577840" y="2103120"/>
            <a:ext cx="548640" cy="0"/>
          </a:xfrm>
          <a:prstGeom prst="line">
            <a:avLst/>
          </a:prstGeom>
          <a:noFill/>
          <a:ln w="15240">
            <a:solidFill>
              <a:srgbClr val="E5E7EB"/>
            </a:solidFill>
            <a:prstDash val="solid"/>
          </a:ln>
        </p:spPr>
      </p:sp>
      <p:sp>
        <p:nvSpPr>
          <p:cNvPr id="21" name="Shape 19"/>
          <p:cNvSpPr/>
          <p:nvPr/>
        </p:nvSpPr>
        <p:spPr>
          <a:xfrm>
            <a:off x="4572000" y="2834640"/>
            <a:ext cx="0" cy="457200"/>
          </a:xfrm>
          <a:prstGeom prst="line">
            <a:avLst/>
          </a:prstGeom>
          <a:noFill/>
          <a:ln w="15240">
            <a:solidFill>
              <a:srgbClr val="E5E7EB"/>
            </a:solidFill>
            <a:prstDash val="solid"/>
          </a:ln>
        </p:spPr>
      </p:sp>
      <p:sp>
        <p:nvSpPr>
          <p:cNvPr id="22" name="Text 20"/>
          <p:cNvSpPr/>
          <p:nvPr/>
        </p:nvSpPr>
        <p:spPr>
          <a:xfrm>
            <a:off x="457200" y="4114800"/>
            <a:ext cx="822960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Regulatory Parallelism: these six regimes apply simultaneously — without coordinating with each other.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India’s AI Governance Timeline</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The compliance wave is already underway</a:t>
            </a:r>
            <a:endParaRPr lang="en-US" sz="1200" dirty="0"/>
          </a:p>
        </p:txBody>
      </p:sp>
      <p:sp>
        <p:nvSpPr>
          <p:cNvPr id="4" name="Shape 2"/>
          <p:cNvSpPr/>
          <p:nvPr/>
        </p:nvSpPr>
        <p:spPr>
          <a:xfrm>
            <a:off x="731520" y="2377440"/>
            <a:ext cx="7680960" cy="0"/>
          </a:xfrm>
          <a:prstGeom prst="line">
            <a:avLst/>
          </a:prstGeom>
          <a:noFill/>
          <a:ln w="25400">
            <a:solidFill>
              <a:srgbClr val="1B2A4A"/>
            </a:solidFill>
            <a:prstDash val="solid"/>
          </a:ln>
        </p:spPr>
      </p:sp>
      <p:sp>
        <p:nvSpPr>
          <p:cNvPr id="5" name="Shape 3"/>
          <p:cNvSpPr/>
          <p:nvPr/>
        </p:nvSpPr>
        <p:spPr>
          <a:xfrm>
            <a:off x="1024128" y="2304288"/>
            <a:ext cx="146304" cy="146304"/>
          </a:xfrm>
          <a:prstGeom prst="ellipse">
            <a:avLst/>
          </a:prstGeom>
          <a:solidFill>
            <a:srgbClr val="047857"/>
          </a:solidFill>
          <a:ln w="12700">
            <a:solidFill>
              <a:srgbClr val="047857"/>
            </a:solidFill>
            <a:prstDash val="solid"/>
          </a:ln>
        </p:spPr>
      </p:sp>
      <p:sp>
        <p:nvSpPr>
          <p:cNvPr id="6" name="Text 4"/>
          <p:cNvSpPr/>
          <p:nvPr/>
        </p:nvSpPr>
        <p:spPr>
          <a:xfrm>
            <a:off x="457200" y="1280160"/>
            <a:ext cx="1280160" cy="640080"/>
          </a:xfrm>
          <a:prstGeom prst="rect">
            <a:avLst/>
          </a:prstGeom>
          <a:noFill/>
          <a:ln/>
        </p:spPr>
        <p:txBody>
          <a:bodyPr wrap="square" lIns="0" tIns="0" rIns="0" bIns="0" rtlCol="0" anchor="b"/>
          <a:lstStyle/>
          <a:p>
            <a:pPr algn="ctr" indent="0" marL="0">
              <a:buNone/>
            </a:pPr>
            <a:r>
              <a:rPr lang="en-US" sz="1000" b="1" dirty="0">
                <a:solidFill>
                  <a:srgbClr val="047857"/>
                </a:solidFill>
                <a:latin typeface="Calibri" pitchFamily="34" charset="0"/>
                <a:ea typeface="Calibri" pitchFamily="34" charset="-122"/>
                <a:cs typeface="Calibri" pitchFamily="34" charset="-120"/>
              </a:rPr>
              <a:t>DPDP Rules</a:t>
            </a:r>
            <a:endParaRPr lang="en-US" sz="1000" dirty="0"/>
          </a:p>
          <a:p>
            <a:pPr algn="ctr" indent="0" marL="0">
              <a:buNone/>
            </a:pPr>
            <a:r>
              <a:rPr lang="en-US" sz="1000" b="1" dirty="0">
                <a:solidFill>
                  <a:srgbClr val="047857"/>
                </a:solidFill>
                <a:latin typeface="Calibri" pitchFamily="34" charset="0"/>
                <a:ea typeface="Calibri" pitchFamily="34" charset="-122"/>
                <a:cs typeface="Calibri" pitchFamily="34" charset="-120"/>
              </a:rPr>
              <a:t>notified</a:t>
            </a:r>
            <a:endParaRPr lang="en-US" sz="1000" dirty="0"/>
          </a:p>
        </p:txBody>
      </p:sp>
      <p:sp>
        <p:nvSpPr>
          <p:cNvPr id="7" name="Text 5"/>
          <p:cNvSpPr/>
          <p:nvPr/>
        </p:nvSpPr>
        <p:spPr>
          <a:xfrm>
            <a:off x="640080" y="1965960"/>
            <a:ext cx="914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Nov 2025</a:t>
            </a:r>
            <a:endParaRPr lang="en-US" sz="900" dirty="0"/>
          </a:p>
        </p:txBody>
      </p:sp>
      <p:sp>
        <p:nvSpPr>
          <p:cNvPr id="8" name="Shape 6"/>
          <p:cNvSpPr/>
          <p:nvPr/>
        </p:nvSpPr>
        <p:spPr>
          <a:xfrm>
            <a:off x="1097280" y="1965960"/>
            <a:ext cx="0" cy="365760"/>
          </a:xfrm>
          <a:prstGeom prst="line">
            <a:avLst/>
          </a:prstGeom>
          <a:noFill/>
          <a:ln w="12700">
            <a:solidFill>
              <a:srgbClr val="E5E7EB"/>
            </a:solidFill>
            <a:prstDash val="dash"/>
          </a:ln>
        </p:spPr>
      </p:sp>
      <p:sp>
        <p:nvSpPr>
          <p:cNvPr id="9" name="Shape 7"/>
          <p:cNvSpPr/>
          <p:nvPr/>
        </p:nvSpPr>
        <p:spPr>
          <a:xfrm>
            <a:off x="2670048" y="2304288"/>
            <a:ext cx="146304" cy="146304"/>
          </a:xfrm>
          <a:prstGeom prst="ellipse">
            <a:avLst/>
          </a:prstGeom>
          <a:solidFill>
            <a:srgbClr val="1E40AF"/>
          </a:solidFill>
          <a:ln w="12700">
            <a:solidFill>
              <a:srgbClr val="1E40AF"/>
            </a:solidFill>
            <a:prstDash val="solid"/>
          </a:ln>
        </p:spPr>
      </p:sp>
      <p:sp>
        <p:nvSpPr>
          <p:cNvPr id="10" name="Text 8"/>
          <p:cNvSpPr/>
          <p:nvPr/>
        </p:nvSpPr>
        <p:spPr>
          <a:xfrm>
            <a:off x="2286000" y="2560320"/>
            <a:ext cx="914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Jun 2026</a:t>
            </a:r>
            <a:endParaRPr lang="en-US" sz="900" dirty="0"/>
          </a:p>
        </p:txBody>
      </p:sp>
      <p:sp>
        <p:nvSpPr>
          <p:cNvPr id="11" name="Text 9"/>
          <p:cNvSpPr/>
          <p:nvPr/>
        </p:nvSpPr>
        <p:spPr>
          <a:xfrm>
            <a:off x="2103120" y="2834640"/>
            <a:ext cx="1280160" cy="640080"/>
          </a:xfrm>
          <a:prstGeom prst="rect">
            <a:avLst/>
          </a:prstGeom>
          <a:noFill/>
          <a:ln/>
        </p:spPr>
        <p:txBody>
          <a:bodyPr wrap="square" lIns="0" tIns="0" rIns="0" bIns="0" rtlCol="0" anchor="t"/>
          <a:lstStyle/>
          <a:p>
            <a:pPr algn="ctr" indent="0" marL="0">
              <a:buNone/>
            </a:pPr>
            <a:r>
              <a:rPr lang="en-US" sz="1000" b="1" dirty="0">
                <a:solidFill>
                  <a:srgbClr val="1E40AF"/>
                </a:solidFill>
                <a:latin typeface="Calibri" pitchFamily="34" charset="0"/>
                <a:ea typeface="Calibri" pitchFamily="34" charset="-122"/>
                <a:cs typeface="Calibri" pitchFamily="34" charset="-120"/>
              </a:rPr>
              <a:t>SC Draft AI</a:t>
            </a:r>
            <a:endParaRPr lang="en-US" sz="1000" dirty="0"/>
          </a:p>
          <a:p>
            <a:pPr algn="ctr" indent="0" marL="0">
              <a:buNone/>
            </a:pPr>
            <a:r>
              <a:rPr lang="en-US" sz="1000" b="1" dirty="0">
                <a:solidFill>
                  <a:srgbClr val="1E40AF"/>
                </a:solidFill>
                <a:latin typeface="Calibri" pitchFamily="34" charset="0"/>
                <a:ea typeface="Calibri" pitchFamily="34" charset="-122"/>
                <a:cs typeface="Calibri" pitchFamily="34" charset="-120"/>
              </a:rPr>
              <a:t>Regulations</a:t>
            </a:r>
            <a:endParaRPr lang="en-US" sz="1000" dirty="0"/>
          </a:p>
        </p:txBody>
      </p:sp>
      <p:sp>
        <p:nvSpPr>
          <p:cNvPr id="12" name="Shape 10"/>
          <p:cNvSpPr/>
          <p:nvPr/>
        </p:nvSpPr>
        <p:spPr>
          <a:xfrm>
            <a:off x="2743200" y="2423160"/>
            <a:ext cx="0" cy="411480"/>
          </a:xfrm>
          <a:prstGeom prst="line">
            <a:avLst/>
          </a:prstGeom>
          <a:noFill/>
          <a:ln w="12700">
            <a:solidFill>
              <a:srgbClr val="E5E7EB"/>
            </a:solidFill>
            <a:prstDash val="dash"/>
          </a:ln>
        </p:spPr>
      </p:sp>
      <p:sp>
        <p:nvSpPr>
          <p:cNvPr id="13" name="Shape 11"/>
          <p:cNvSpPr/>
          <p:nvPr/>
        </p:nvSpPr>
        <p:spPr>
          <a:xfrm>
            <a:off x="4041648" y="2304288"/>
            <a:ext cx="146304" cy="146304"/>
          </a:xfrm>
          <a:prstGeom prst="ellipse">
            <a:avLst/>
          </a:prstGeom>
          <a:solidFill>
            <a:srgbClr val="B91C1C"/>
          </a:solidFill>
          <a:ln w="12700">
            <a:solidFill>
              <a:srgbClr val="B91C1C"/>
            </a:solidFill>
            <a:prstDash val="solid"/>
          </a:ln>
        </p:spPr>
      </p:sp>
      <p:sp>
        <p:nvSpPr>
          <p:cNvPr id="14" name="Text 12"/>
          <p:cNvSpPr/>
          <p:nvPr/>
        </p:nvSpPr>
        <p:spPr>
          <a:xfrm>
            <a:off x="3474720" y="1280160"/>
            <a:ext cx="1280160" cy="640080"/>
          </a:xfrm>
          <a:prstGeom prst="rect">
            <a:avLst/>
          </a:prstGeom>
          <a:noFill/>
          <a:ln/>
        </p:spPr>
        <p:txBody>
          <a:bodyPr wrap="square" lIns="0" tIns="0" rIns="0" bIns="0" rtlCol="0" anchor="b"/>
          <a:lstStyle/>
          <a:p>
            <a:pPr algn="ctr" indent="0" marL="0">
              <a:buNone/>
            </a:pPr>
            <a:r>
              <a:rPr lang="en-US" sz="1000" b="1" dirty="0">
                <a:solidFill>
                  <a:srgbClr val="B91C1C"/>
                </a:solidFill>
                <a:latin typeface="Calibri" pitchFamily="34" charset="0"/>
                <a:ea typeface="Calibri" pitchFamily="34" charset="-122"/>
                <a:cs typeface="Calibri" pitchFamily="34" charset="-120"/>
              </a:rPr>
              <a:t>SC Hallucination</a:t>
            </a:r>
            <a:endParaRPr lang="en-US" sz="1000" dirty="0"/>
          </a:p>
          <a:p>
            <a:pPr algn="ctr" indent="0" marL="0">
              <a:buNone/>
            </a:pPr>
            <a:r>
              <a:rPr lang="en-US" sz="1000" b="1" dirty="0">
                <a:solidFill>
                  <a:srgbClr val="B91C1C"/>
                </a:solidFill>
                <a:latin typeface="Calibri" pitchFamily="34" charset="0"/>
                <a:ea typeface="Calibri" pitchFamily="34" charset="-122"/>
                <a:cs typeface="Calibri" pitchFamily="34" charset="-120"/>
              </a:rPr>
              <a:t>judgment</a:t>
            </a:r>
            <a:endParaRPr lang="en-US" sz="1000" dirty="0"/>
          </a:p>
        </p:txBody>
      </p:sp>
      <p:sp>
        <p:nvSpPr>
          <p:cNvPr id="15" name="Text 13"/>
          <p:cNvSpPr/>
          <p:nvPr/>
        </p:nvSpPr>
        <p:spPr>
          <a:xfrm>
            <a:off x="3657600" y="1965960"/>
            <a:ext cx="914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Jul 2026</a:t>
            </a:r>
            <a:endParaRPr lang="en-US" sz="900" dirty="0"/>
          </a:p>
        </p:txBody>
      </p:sp>
      <p:sp>
        <p:nvSpPr>
          <p:cNvPr id="16" name="Shape 14"/>
          <p:cNvSpPr/>
          <p:nvPr/>
        </p:nvSpPr>
        <p:spPr>
          <a:xfrm>
            <a:off x="4114800" y="1965960"/>
            <a:ext cx="0" cy="365760"/>
          </a:xfrm>
          <a:prstGeom prst="line">
            <a:avLst/>
          </a:prstGeom>
          <a:noFill/>
          <a:ln w="12700">
            <a:solidFill>
              <a:srgbClr val="E5E7EB"/>
            </a:solidFill>
            <a:prstDash val="dash"/>
          </a:ln>
        </p:spPr>
      </p:sp>
      <p:sp>
        <p:nvSpPr>
          <p:cNvPr id="17" name="Shape 15"/>
          <p:cNvSpPr/>
          <p:nvPr/>
        </p:nvSpPr>
        <p:spPr>
          <a:xfrm>
            <a:off x="5687568" y="2304288"/>
            <a:ext cx="146304" cy="146304"/>
          </a:xfrm>
          <a:prstGeom prst="ellipse">
            <a:avLst/>
          </a:prstGeom>
          <a:solidFill>
            <a:srgbClr val="B45309"/>
          </a:solidFill>
          <a:ln w="12700">
            <a:solidFill>
              <a:srgbClr val="B45309"/>
            </a:solidFill>
            <a:prstDash val="solid"/>
          </a:ln>
        </p:spPr>
      </p:sp>
      <p:sp>
        <p:nvSpPr>
          <p:cNvPr id="18" name="Text 16"/>
          <p:cNvSpPr/>
          <p:nvPr/>
        </p:nvSpPr>
        <p:spPr>
          <a:xfrm>
            <a:off x="5303520" y="2560320"/>
            <a:ext cx="914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Nov 2026</a:t>
            </a:r>
            <a:endParaRPr lang="en-US" sz="900" dirty="0"/>
          </a:p>
        </p:txBody>
      </p:sp>
      <p:sp>
        <p:nvSpPr>
          <p:cNvPr id="19" name="Text 17"/>
          <p:cNvSpPr/>
          <p:nvPr/>
        </p:nvSpPr>
        <p:spPr>
          <a:xfrm>
            <a:off x="5120640" y="2834640"/>
            <a:ext cx="1280160" cy="640080"/>
          </a:xfrm>
          <a:prstGeom prst="rect">
            <a:avLst/>
          </a:prstGeom>
          <a:noFill/>
          <a:ln/>
        </p:spPr>
        <p:txBody>
          <a:bodyPr wrap="square" lIns="0" tIns="0" rIns="0" bIns="0" rtlCol="0" anchor="t"/>
          <a:lstStyle/>
          <a:p>
            <a:pPr algn="ctr" indent="0" marL="0">
              <a:buNone/>
            </a:pPr>
            <a:r>
              <a:rPr lang="en-US" sz="1000" b="1" dirty="0">
                <a:solidFill>
                  <a:srgbClr val="B45309"/>
                </a:solidFill>
                <a:latin typeface="Calibri" pitchFamily="34" charset="0"/>
                <a:ea typeface="Calibri" pitchFamily="34" charset="-122"/>
                <a:cs typeface="Calibri" pitchFamily="34" charset="-120"/>
              </a:rPr>
              <a:t>DPDP Phase 2</a:t>
            </a:r>
            <a:endParaRPr lang="en-US" sz="1000" dirty="0"/>
          </a:p>
          <a:p>
            <a:pPr algn="ctr" indent="0" marL="0">
              <a:buNone/>
            </a:pPr>
            <a:r>
              <a:rPr lang="en-US" sz="1000" b="1" dirty="0">
                <a:solidFill>
                  <a:srgbClr val="B45309"/>
                </a:solidFill>
                <a:latin typeface="Calibri" pitchFamily="34" charset="0"/>
                <a:ea typeface="Calibri" pitchFamily="34" charset="-122"/>
                <a:cs typeface="Calibri" pitchFamily="34" charset="-120"/>
              </a:rPr>
              <a:t>Consent Managers</a:t>
            </a:r>
            <a:endParaRPr lang="en-US" sz="1000" dirty="0"/>
          </a:p>
        </p:txBody>
      </p:sp>
      <p:sp>
        <p:nvSpPr>
          <p:cNvPr id="20" name="Shape 18"/>
          <p:cNvSpPr/>
          <p:nvPr/>
        </p:nvSpPr>
        <p:spPr>
          <a:xfrm>
            <a:off x="5760720" y="2423160"/>
            <a:ext cx="0" cy="411480"/>
          </a:xfrm>
          <a:prstGeom prst="line">
            <a:avLst/>
          </a:prstGeom>
          <a:noFill/>
          <a:ln w="12700">
            <a:solidFill>
              <a:srgbClr val="E5E7EB"/>
            </a:solidFill>
            <a:prstDash val="dash"/>
          </a:ln>
        </p:spPr>
      </p:sp>
      <p:sp>
        <p:nvSpPr>
          <p:cNvPr id="21" name="Shape 19"/>
          <p:cNvSpPr/>
          <p:nvPr/>
        </p:nvSpPr>
        <p:spPr>
          <a:xfrm>
            <a:off x="7242048" y="2304288"/>
            <a:ext cx="146304" cy="146304"/>
          </a:xfrm>
          <a:prstGeom prst="ellipse">
            <a:avLst/>
          </a:prstGeom>
          <a:solidFill>
            <a:srgbClr val="B91C1C"/>
          </a:solidFill>
          <a:ln w="12700">
            <a:solidFill>
              <a:srgbClr val="B91C1C"/>
            </a:solidFill>
            <a:prstDash val="solid"/>
          </a:ln>
        </p:spPr>
      </p:sp>
      <p:sp>
        <p:nvSpPr>
          <p:cNvPr id="22" name="Text 20"/>
          <p:cNvSpPr/>
          <p:nvPr/>
        </p:nvSpPr>
        <p:spPr>
          <a:xfrm>
            <a:off x="6675120" y="1280160"/>
            <a:ext cx="1280160" cy="640080"/>
          </a:xfrm>
          <a:prstGeom prst="rect">
            <a:avLst/>
          </a:prstGeom>
          <a:noFill/>
          <a:ln/>
        </p:spPr>
        <p:txBody>
          <a:bodyPr wrap="square" lIns="0" tIns="0" rIns="0" bIns="0" rtlCol="0" anchor="b"/>
          <a:lstStyle/>
          <a:p>
            <a:pPr algn="ctr" indent="0" marL="0">
              <a:buNone/>
            </a:pPr>
            <a:r>
              <a:rPr lang="en-US" sz="1000" b="1" dirty="0">
                <a:solidFill>
                  <a:srgbClr val="B91C1C"/>
                </a:solidFill>
                <a:latin typeface="Calibri" pitchFamily="34" charset="0"/>
                <a:ea typeface="Calibri" pitchFamily="34" charset="-122"/>
                <a:cs typeface="Calibri" pitchFamily="34" charset="-120"/>
              </a:rPr>
              <a:t>DPDP Phase 3</a:t>
            </a:r>
            <a:endParaRPr lang="en-US" sz="1000" dirty="0"/>
          </a:p>
          <a:p>
            <a:pPr algn="ctr" indent="0" marL="0">
              <a:buNone/>
            </a:pPr>
            <a:r>
              <a:rPr lang="en-US" sz="1000" b="1" dirty="0">
                <a:solidFill>
                  <a:srgbClr val="B91C1C"/>
                </a:solidFill>
                <a:latin typeface="Calibri" pitchFamily="34" charset="0"/>
                <a:ea typeface="Calibri" pitchFamily="34" charset="-122"/>
                <a:cs typeface="Calibri" pitchFamily="34" charset="-120"/>
              </a:rPr>
              <a:t>Full enforcement</a:t>
            </a:r>
            <a:endParaRPr lang="en-US" sz="1000" dirty="0"/>
          </a:p>
          <a:p>
            <a:pPr algn="ctr" indent="0" marL="0">
              <a:buNone/>
            </a:pPr>
            <a:r>
              <a:rPr lang="en-US" sz="1000" b="1" dirty="0">
                <a:solidFill>
                  <a:srgbClr val="B91C1C"/>
                </a:solidFill>
                <a:latin typeface="Calibri" pitchFamily="34" charset="0"/>
                <a:ea typeface="Calibri" pitchFamily="34" charset="-122"/>
                <a:cs typeface="Calibri" pitchFamily="34" charset="-120"/>
              </a:rPr>
              <a:t>₹250 Cr penalties</a:t>
            </a:r>
            <a:endParaRPr lang="en-US" sz="1000" dirty="0"/>
          </a:p>
        </p:txBody>
      </p:sp>
      <p:sp>
        <p:nvSpPr>
          <p:cNvPr id="23" name="Text 21"/>
          <p:cNvSpPr/>
          <p:nvPr/>
        </p:nvSpPr>
        <p:spPr>
          <a:xfrm>
            <a:off x="6858000" y="1965960"/>
            <a:ext cx="914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May 2027</a:t>
            </a:r>
            <a:endParaRPr lang="en-US" sz="900" dirty="0"/>
          </a:p>
        </p:txBody>
      </p:sp>
      <p:sp>
        <p:nvSpPr>
          <p:cNvPr id="24" name="Shape 22"/>
          <p:cNvSpPr/>
          <p:nvPr/>
        </p:nvSpPr>
        <p:spPr>
          <a:xfrm>
            <a:off x="7315200" y="1965960"/>
            <a:ext cx="0" cy="365760"/>
          </a:xfrm>
          <a:prstGeom prst="line">
            <a:avLst/>
          </a:prstGeom>
          <a:noFill/>
          <a:ln w="12700">
            <a:solidFill>
              <a:srgbClr val="E5E7EB"/>
            </a:solidFill>
            <a:prstDash val="dash"/>
          </a:ln>
        </p:spPr>
      </p:sp>
      <p:sp>
        <p:nvSpPr>
          <p:cNvPr id="25" name="Shape 23"/>
          <p:cNvSpPr/>
          <p:nvPr/>
        </p:nvSpPr>
        <p:spPr>
          <a:xfrm>
            <a:off x="548640" y="3657600"/>
            <a:ext cx="8046720" cy="822960"/>
          </a:xfrm>
          <a:prstGeom prst="roundRect">
            <a:avLst>
              <a:gd name="adj" fmla="val 8889"/>
            </a:avLst>
          </a:prstGeom>
          <a:solidFill>
            <a:srgbClr val="F3F4F6"/>
          </a:solidFill>
          <a:ln/>
          <a:effectLst>
            <a:outerShdw sx="100000" sy="100000" kx="0" ky="0" algn="bl" rotWithShape="0" blurRad="50800" dist="12700" dir="16200000">
              <a:srgbClr val="000000">
                <a:alpha val="8000"/>
              </a:srgbClr>
            </a:outerShdw>
          </a:effectLst>
        </p:spPr>
      </p:sp>
      <p:sp>
        <p:nvSpPr>
          <p:cNvPr id="26" name="Text 24"/>
          <p:cNvSpPr/>
          <p:nvPr/>
        </p:nvSpPr>
        <p:spPr>
          <a:xfrm>
            <a:off x="731520" y="3749040"/>
            <a:ext cx="768096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SC draft AI Regulations: still in consultation — not yet binding.</a:t>
            </a:r>
            <a:endParaRPr lang="en-US" sz="1100" dirty="0"/>
          </a:p>
        </p:txBody>
      </p:sp>
      <p:sp>
        <p:nvSpPr>
          <p:cNvPr id="27" name="Text 25"/>
          <p:cNvSpPr/>
          <p:nvPr/>
        </p:nvSpPr>
        <p:spPr>
          <a:xfrm>
            <a:off x="731520" y="4023360"/>
            <a:ext cx="7680960" cy="365760"/>
          </a:xfrm>
          <a:prstGeom prst="rect">
            <a:avLst/>
          </a:prstGeom>
          <a:noFill/>
          <a:ln/>
        </p:spPr>
        <p:txBody>
          <a:bodyPr wrap="square" lIns="0" tIns="0" rIns="0" bIns="0" rtlCol="0" anchor="ctr"/>
          <a:lstStyle/>
          <a:p>
            <a:pPr algn="l" indent="0" marL="0">
              <a:buNone/>
            </a:pPr>
            <a:r>
              <a:rPr lang="en-US" sz="1200" b="1" dirty="0">
                <a:solidFill>
                  <a:srgbClr val="1B2A4A"/>
                </a:solidFill>
                <a:latin typeface="Calibri" pitchFamily="34" charset="0"/>
                <a:ea typeface="Calibri" pitchFamily="34" charset="-122"/>
                <a:cs typeface="Calibri" pitchFamily="34" charset="-120"/>
              </a:rPr>
              <a:t>By May 2027, every organisation processing personal data in India faces full DPDP enforcement with penalties up to ₹250 crore per violation category. Every compliance obligation is a governance job.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Global Signal</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This is not a future prediction. This is the profession you are entering.</a:t>
            </a:r>
            <a:endParaRPr lang="en-US" sz="1200" dirty="0"/>
          </a:p>
        </p:txBody>
      </p:sp>
      <p:sp>
        <p:nvSpPr>
          <p:cNvPr id="4" name="Shape 2"/>
          <p:cNvSpPr/>
          <p:nvPr/>
        </p:nvSpPr>
        <p:spPr>
          <a:xfrm>
            <a:off x="457200" y="1188720"/>
            <a:ext cx="2651760" cy="2926080"/>
          </a:xfrm>
          <a:prstGeom prst="roundRect">
            <a:avLst>
              <a:gd name="adj" fmla="val 2759"/>
            </a:avLst>
          </a:prstGeom>
          <a:solidFill>
            <a:srgbClr val="DBEAFE"/>
          </a:solidFill>
          <a:ln/>
          <a:effectLst>
            <a:outerShdw sx="100000" sy="100000" kx="0" ky="0" algn="bl" rotWithShape="0" blurRad="50800" dist="12700" dir="16200000">
              <a:srgbClr val="000000">
                <a:alpha val="8000"/>
              </a:srgbClr>
            </a:outerShdw>
          </a:effectLst>
        </p:spPr>
      </p:sp>
      <p:sp>
        <p:nvSpPr>
          <p:cNvPr id="5" name="Text 3"/>
          <p:cNvSpPr/>
          <p:nvPr/>
        </p:nvSpPr>
        <p:spPr>
          <a:xfrm>
            <a:off x="548640" y="1371600"/>
            <a:ext cx="2468880" cy="914400"/>
          </a:xfrm>
          <a:prstGeom prst="rect">
            <a:avLst/>
          </a:prstGeom>
          <a:noFill/>
          <a:ln/>
        </p:spPr>
        <p:txBody>
          <a:bodyPr wrap="square" lIns="0" tIns="0" rIns="0" bIns="0" rtlCol="0" anchor="ctr"/>
          <a:lstStyle/>
          <a:p>
            <a:pPr algn="ctr" indent="0" marL="0">
              <a:buNone/>
            </a:pPr>
            <a:r>
              <a:rPr lang="en-US" sz="5400" b="1" dirty="0">
                <a:solidFill>
                  <a:srgbClr val="1E40AF"/>
                </a:solidFill>
                <a:latin typeface="Cambria" pitchFamily="34" charset="0"/>
                <a:ea typeface="Cambria" pitchFamily="34" charset="-122"/>
                <a:cs typeface="Cambria" pitchFamily="34" charset="-120"/>
              </a:rPr>
              <a:t>92%</a:t>
            </a:r>
            <a:endParaRPr lang="en-US" sz="5400" dirty="0"/>
          </a:p>
        </p:txBody>
      </p:sp>
      <p:sp>
        <p:nvSpPr>
          <p:cNvPr id="6" name="Text 4"/>
          <p:cNvSpPr/>
          <p:nvPr/>
        </p:nvSpPr>
        <p:spPr>
          <a:xfrm>
            <a:off x="640080" y="2377440"/>
            <a:ext cx="2286000" cy="1097280"/>
          </a:xfrm>
          <a:prstGeom prst="rect">
            <a:avLst/>
          </a:prstGeom>
          <a:noFill/>
          <a:ln/>
        </p:spPr>
        <p:txBody>
          <a:bodyPr wrap="square" lIns="0" tIns="0" rIns="0" bIns="0" rtlCol="0" anchor="t"/>
          <a:lstStyle/>
          <a:p>
            <a:pPr algn="ctr" indent="0" marL="0">
              <a:buNone/>
            </a:pPr>
            <a:r>
              <a:rPr lang="en-US" sz="1100" dirty="0">
                <a:solidFill>
                  <a:srgbClr val="374151"/>
                </a:solidFill>
                <a:latin typeface="Calibri" pitchFamily="34" charset="0"/>
                <a:ea typeface="Calibri" pitchFamily="34" charset="-122"/>
                <a:cs typeface="Calibri" pitchFamily="34" charset="-120"/>
              </a:rPr>
              <a:t>of legal professionals use at</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least one AI tool in their</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daily workflow</a:t>
            </a:r>
            <a:endParaRPr lang="en-US" sz="1100" dirty="0"/>
          </a:p>
        </p:txBody>
      </p:sp>
      <p:sp>
        <p:nvSpPr>
          <p:cNvPr id="7" name="Text 5"/>
          <p:cNvSpPr/>
          <p:nvPr/>
        </p:nvSpPr>
        <p:spPr>
          <a:xfrm>
            <a:off x="640080" y="3566160"/>
            <a:ext cx="2286000" cy="365760"/>
          </a:xfrm>
          <a:prstGeom prst="rect">
            <a:avLst/>
          </a:prstGeom>
          <a:noFill/>
          <a:ln/>
        </p:spPr>
        <p:txBody>
          <a:bodyPr wrap="square" lIns="0" tIns="0" rIns="0" bIns="0" rtlCol="0" anchor="b"/>
          <a:lstStyle/>
          <a:p>
            <a:pPr algn="ctr" indent="0" marL="0">
              <a:buNone/>
            </a:pPr>
            <a:r>
              <a:rPr lang="en-US" sz="900" i="1" dirty="0">
                <a:solidFill>
                  <a:srgbClr val="6B7280"/>
                </a:solidFill>
                <a:latin typeface="Calibri" pitchFamily="34" charset="0"/>
                <a:ea typeface="Calibri" pitchFamily="34" charset="-122"/>
                <a:cs typeface="Calibri" pitchFamily="34" charset="-120"/>
              </a:rPr>
              <a:t>Wolters Kluwer, March 2026</a:t>
            </a:r>
            <a:endParaRPr lang="en-US" sz="900" dirty="0"/>
          </a:p>
        </p:txBody>
      </p:sp>
      <p:sp>
        <p:nvSpPr>
          <p:cNvPr id="8" name="Shape 6"/>
          <p:cNvSpPr/>
          <p:nvPr/>
        </p:nvSpPr>
        <p:spPr>
          <a:xfrm>
            <a:off x="3337560" y="1188720"/>
            <a:ext cx="2651760" cy="2926080"/>
          </a:xfrm>
          <a:prstGeom prst="roundRect">
            <a:avLst>
              <a:gd name="adj" fmla="val 2759"/>
            </a:avLst>
          </a:prstGeom>
          <a:solidFill>
            <a:srgbClr val="D1FAE5"/>
          </a:solidFill>
          <a:ln/>
          <a:effectLst>
            <a:outerShdw sx="100000" sy="100000" kx="0" ky="0" algn="bl" rotWithShape="0" blurRad="50800" dist="12700" dir="16200000">
              <a:srgbClr val="000000">
                <a:alpha val="8000"/>
              </a:srgbClr>
            </a:outerShdw>
          </a:effectLst>
        </p:spPr>
      </p:sp>
      <p:sp>
        <p:nvSpPr>
          <p:cNvPr id="9" name="Text 7"/>
          <p:cNvSpPr/>
          <p:nvPr/>
        </p:nvSpPr>
        <p:spPr>
          <a:xfrm>
            <a:off x="3429000" y="1371600"/>
            <a:ext cx="2468880" cy="914400"/>
          </a:xfrm>
          <a:prstGeom prst="rect">
            <a:avLst/>
          </a:prstGeom>
          <a:noFill/>
          <a:ln/>
        </p:spPr>
        <p:txBody>
          <a:bodyPr wrap="square" lIns="0" tIns="0" rIns="0" bIns="0" rtlCol="0" anchor="ctr"/>
          <a:lstStyle/>
          <a:p>
            <a:pPr algn="ctr" indent="0" marL="0">
              <a:buNone/>
            </a:pPr>
            <a:r>
              <a:rPr lang="en-US" sz="5400" b="1" dirty="0">
                <a:solidFill>
                  <a:srgbClr val="047857"/>
                </a:solidFill>
                <a:latin typeface="Cambria" pitchFamily="34" charset="0"/>
                <a:ea typeface="Cambria" pitchFamily="34" charset="-122"/>
                <a:cs typeface="Cambria" pitchFamily="34" charset="-120"/>
              </a:rPr>
              <a:t>61%</a:t>
            </a:r>
            <a:endParaRPr lang="en-US" sz="5400" dirty="0"/>
          </a:p>
        </p:txBody>
      </p:sp>
      <p:sp>
        <p:nvSpPr>
          <p:cNvPr id="10" name="Text 8"/>
          <p:cNvSpPr/>
          <p:nvPr/>
        </p:nvSpPr>
        <p:spPr>
          <a:xfrm>
            <a:off x="3520440" y="2377440"/>
            <a:ext cx="2286000" cy="1097280"/>
          </a:xfrm>
          <a:prstGeom prst="rect">
            <a:avLst/>
          </a:prstGeom>
          <a:noFill/>
          <a:ln/>
        </p:spPr>
        <p:txBody>
          <a:bodyPr wrap="square" lIns="0" tIns="0" rIns="0" bIns="0" rtlCol="0" anchor="t"/>
          <a:lstStyle/>
          <a:p>
            <a:pPr algn="ctr" indent="0" marL="0">
              <a:buNone/>
            </a:pPr>
            <a:r>
              <a:rPr lang="en-US" sz="1100" dirty="0">
                <a:solidFill>
                  <a:srgbClr val="374151"/>
                </a:solidFill>
                <a:latin typeface="Calibri" pitchFamily="34" charset="0"/>
                <a:ea typeface="Calibri" pitchFamily="34" charset="-122"/>
                <a:cs typeface="Calibri" pitchFamily="34" charset="-120"/>
              </a:rPr>
              <a:t>of corporate legal departments</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are in active AI deployment;</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28% of legal work expected</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automatable in 2–3 years</a:t>
            </a:r>
            <a:endParaRPr lang="en-US" sz="1100" dirty="0"/>
          </a:p>
        </p:txBody>
      </p:sp>
      <p:sp>
        <p:nvSpPr>
          <p:cNvPr id="11" name="Text 9"/>
          <p:cNvSpPr/>
          <p:nvPr/>
        </p:nvSpPr>
        <p:spPr>
          <a:xfrm>
            <a:off x="3520440" y="3566160"/>
            <a:ext cx="2286000" cy="365760"/>
          </a:xfrm>
          <a:prstGeom prst="rect">
            <a:avLst/>
          </a:prstGeom>
          <a:noFill/>
          <a:ln/>
        </p:spPr>
        <p:txBody>
          <a:bodyPr wrap="square" lIns="0" tIns="0" rIns="0" bIns="0" rtlCol="0" anchor="b"/>
          <a:lstStyle/>
          <a:p>
            <a:pPr algn="ctr" indent="0" marL="0">
              <a:buNone/>
            </a:pPr>
            <a:r>
              <a:rPr lang="en-US" sz="900" i="1" dirty="0">
                <a:solidFill>
                  <a:srgbClr val="6B7280"/>
                </a:solidFill>
                <a:latin typeface="Calibri" pitchFamily="34" charset="0"/>
                <a:ea typeface="Calibri" pitchFamily="34" charset="-122"/>
                <a:cs typeface="Calibri" pitchFamily="34" charset="-120"/>
              </a:rPr>
              <a:t>Deloitte, July 2026</a:t>
            </a:r>
            <a:endParaRPr lang="en-US" sz="900" dirty="0"/>
          </a:p>
        </p:txBody>
      </p:sp>
      <p:sp>
        <p:nvSpPr>
          <p:cNvPr id="12" name="Shape 10"/>
          <p:cNvSpPr/>
          <p:nvPr/>
        </p:nvSpPr>
        <p:spPr>
          <a:xfrm>
            <a:off x="6217920" y="1188720"/>
            <a:ext cx="2651760" cy="2926080"/>
          </a:xfrm>
          <a:prstGeom prst="roundRect">
            <a:avLst>
              <a:gd name="adj" fmla="val 2759"/>
            </a:avLst>
          </a:prstGeom>
          <a:solidFill>
            <a:srgbClr val="EDE9FE"/>
          </a:solidFill>
          <a:ln/>
          <a:effectLst>
            <a:outerShdw sx="100000" sy="100000" kx="0" ky="0" algn="bl" rotWithShape="0" blurRad="50800" dist="12700" dir="16200000">
              <a:srgbClr val="000000">
                <a:alpha val="8000"/>
              </a:srgbClr>
            </a:outerShdw>
          </a:effectLst>
        </p:spPr>
      </p:sp>
      <p:sp>
        <p:nvSpPr>
          <p:cNvPr id="13" name="Text 11"/>
          <p:cNvSpPr/>
          <p:nvPr/>
        </p:nvSpPr>
        <p:spPr>
          <a:xfrm>
            <a:off x="6309360" y="1371600"/>
            <a:ext cx="2468880" cy="914400"/>
          </a:xfrm>
          <a:prstGeom prst="rect">
            <a:avLst/>
          </a:prstGeom>
          <a:noFill/>
          <a:ln/>
        </p:spPr>
        <p:txBody>
          <a:bodyPr wrap="square" lIns="0" tIns="0" rIns="0" bIns="0" rtlCol="0" anchor="ctr"/>
          <a:lstStyle/>
          <a:p>
            <a:pPr algn="ctr" indent="0" marL="0">
              <a:buNone/>
            </a:pPr>
            <a:r>
              <a:rPr lang="en-US" sz="5400" b="1" dirty="0">
                <a:solidFill>
                  <a:srgbClr val="6D28D9"/>
                </a:solidFill>
                <a:latin typeface="Cambria" pitchFamily="34" charset="0"/>
                <a:ea typeface="Cambria" pitchFamily="34" charset="-122"/>
                <a:cs typeface="Cambria" pitchFamily="34" charset="-120"/>
              </a:rPr>
              <a:t>1M+</a:t>
            </a:r>
            <a:endParaRPr lang="en-US" sz="5400" dirty="0"/>
          </a:p>
        </p:txBody>
      </p:sp>
      <p:sp>
        <p:nvSpPr>
          <p:cNvPr id="14" name="Text 12"/>
          <p:cNvSpPr/>
          <p:nvPr/>
        </p:nvSpPr>
        <p:spPr>
          <a:xfrm>
            <a:off x="6400800" y="2377440"/>
            <a:ext cx="2286000" cy="1097280"/>
          </a:xfrm>
          <a:prstGeom prst="rect">
            <a:avLst/>
          </a:prstGeom>
          <a:noFill/>
          <a:ln/>
        </p:spPr>
        <p:txBody>
          <a:bodyPr wrap="square" lIns="0" tIns="0" rIns="0" bIns="0" rtlCol="0" anchor="t"/>
          <a:lstStyle/>
          <a:p>
            <a:pPr algn="ctr" indent="0" marL="0">
              <a:buNone/>
            </a:pPr>
            <a:r>
              <a:rPr lang="en-US" sz="1100" dirty="0">
                <a:solidFill>
                  <a:srgbClr val="374151"/>
                </a:solidFill>
                <a:latin typeface="Calibri" pitchFamily="34" charset="0"/>
                <a:ea typeface="Calibri" pitchFamily="34" charset="-122"/>
                <a:cs typeface="Calibri" pitchFamily="34" charset="-120"/>
              </a:rPr>
              <a:t>professional users across</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107 countries on Thomson</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Reuters CoCounsel — rebuilt</a:t>
            </a:r>
            <a:endParaRPr lang="en-US" sz="1100" dirty="0"/>
          </a:p>
          <a:p>
            <a:pPr algn="ctr" indent="0" marL="0">
              <a:buNone/>
            </a:pPr>
            <a:r>
              <a:rPr lang="en-US" sz="1100" dirty="0">
                <a:solidFill>
                  <a:srgbClr val="374151"/>
                </a:solidFill>
                <a:latin typeface="Calibri" pitchFamily="34" charset="0"/>
                <a:ea typeface="Calibri" pitchFamily="34" charset="-122"/>
                <a:cs typeface="Calibri" pitchFamily="34" charset="-120"/>
              </a:rPr>
              <a:t>as “fiduciary-grade AI”</a:t>
            </a:r>
            <a:endParaRPr lang="en-US" sz="1100" dirty="0"/>
          </a:p>
        </p:txBody>
      </p:sp>
      <p:sp>
        <p:nvSpPr>
          <p:cNvPr id="15" name="Text 13"/>
          <p:cNvSpPr/>
          <p:nvPr/>
        </p:nvSpPr>
        <p:spPr>
          <a:xfrm>
            <a:off x="6400800" y="3566160"/>
            <a:ext cx="2286000" cy="365760"/>
          </a:xfrm>
          <a:prstGeom prst="rect">
            <a:avLst/>
          </a:prstGeom>
          <a:noFill/>
          <a:ln/>
        </p:spPr>
        <p:txBody>
          <a:bodyPr wrap="square" lIns="0" tIns="0" rIns="0" bIns="0" rtlCol="0" anchor="b"/>
          <a:lstStyle/>
          <a:p>
            <a:pPr algn="ctr" indent="0" marL="0">
              <a:buNone/>
            </a:pPr>
            <a:r>
              <a:rPr lang="en-US" sz="900" i="1" dirty="0">
                <a:solidFill>
                  <a:srgbClr val="6B7280"/>
                </a:solidFill>
                <a:latin typeface="Calibri" pitchFamily="34" charset="0"/>
                <a:ea typeface="Calibri" pitchFamily="34" charset="-122"/>
                <a:cs typeface="Calibri" pitchFamily="34" charset="-120"/>
              </a:rPr>
              <a:t>Thomson Reuters, June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The Legal Employment Ecosystem Has Changed</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The legal employment market is no longer identical to the law-firm market</a:t>
            </a:r>
            <a:endParaRPr lang="en-US" sz="1200" dirty="0"/>
          </a:p>
        </p:txBody>
      </p:sp>
      <p:sp>
        <p:nvSpPr>
          <p:cNvPr id="4" name="Shape 2"/>
          <p:cNvSpPr/>
          <p:nvPr/>
        </p:nvSpPr>
        <p:spPr>
          <a:xfrm>
            <a:off x="3383280" y="1828800"/>
            <a:ext cx="2377440" cy="1280160"/>
          </a:xfrm>
          <a:prstGeom prst="ellipse">
            <a:avLst/>
          </a:prstGeom>
          <a:solidFill>
            <a:srgbClr val="DBEAFE"/>
          </a:solidFill>
          <a:ln w="25400">
            <a:solidFill>
              <a:srgbClr val="1E40AF"/>
            </a:solidFill>
            <a:prstDash val="solid"/>
          </a:ln>
        </p:spPr>
      </p:sp>
      <p:sp>
        <p:nvSpPr>
          <p:cNvPr id="5" name="Text 3"/>
          <p:cNvSpPr/>
          <p:nvPr/>
        </p:nvSpPr>
        <p:spPr>
          <a:xfrm>
            <a:off x="3383280" y="1965960"/>
            <a:ext cx="2377440" cy="914400"/>
          </a:xfrm>
          <a:prstGeom prst="rect">
            <a:avLst/>
          </a:prstGeom>
          <a:noFill/>
          <a:ln/>
        </p:spPr>
        <p:txBody>
          <a:bodyPr wrap="square" lIns="0" tIns="0" rIns="0" bIns="0" rtlCol="0" anchor="ctr"/>
          <a:lstStyle/>
          <a:p>
            <a:pPr algn="ctr" indent="0" marL="0">
              <a:buNone/>
            </a:pPr>
            <a:r>
              <a:rPr lang="en-US" sz="1600" b="1" dirty="0">
                <a:solidFill>
                  <a:srgbClr val="1E40AF"/>
                </a:solidFill>
                <a:latin typeface="Calibri" pitchFamily="34" charset="0"/>
                <a:ea typeface="Calibri" pitchFamily="34" charset="-122"/>
                <a:cs typeface="Calibri" pitchFamily="34" charset="-120"/>
              </a:rPr>
              <a:t>LAW</a:t>
            </a:r>
            <a:endParaRPr lang="en-US" sz="1600" dirty="0"/>
          </a:p>
          <a:p>
            <a:pPr algn="ctr" indent="0" marL="0">
              <a:buNone/>
            </a:pPr>
            <a:r>
              <a:rPr lang="en-US" sz="1600" b="1" dirty="0">
                <a:solidFill>
                  <a:srgbClr val="1E40AF"/>
                </a:solidFill>
                <a:latin typeface="Calibri" pitchFamily="34" charset="0"/>
                <a:ea typeface="Calibri" pitchFamily="34" charset="-122"/>
                <a:cs typeface="Calibri" pitchFamily="34" charset="-120"/>
              </a:rPr>
              <a:t>GRADUATE</a:t>
            </a:r>
            <a:endParaRPr lang="en-US" sz="1600" dirty="0"/>
          </a:p>
        </p:txBody>
      </p:sp>
      <p:sp>
        <p:nvSpPr>
          <p:cNvPr id="6" name="Shape 4"/>
          <p:cNvSpPr/>
          <p:nvPr/>
        </p:nvSpPr>
        <p:spPr>
          <a:xfrm>
            <a:off x="2560320" y="731520"/>
            <a:ext cx="4023360" cy="502920"/>
          </a:xfrm>
          <a:prstGeom prst="roundRect">
            <a:avLst>
              <a:gd name="adj" fmla="val 10909"/>
            </a:avLst>
          </a:prstGeom>
          <a:solidFill>
            <a:srgbClr val="D1FAE5"/>
          </a:solidFill>
          <a:ln w="15240">
            <a:solidFill>
              <a:srgbClr val="047857"/>
            </a:solidFill>
            <a:prstDash val="solid"/>
          </a:ln>
        </p:spPr>
      </p:sp>
      <p:sp>
        <p:nvSpPr>
          <p:cNvPr id="7" name="Text 5"/>
          <p:cNvSpPr/>
          <p:nvPr/>
        </p:nvSpPr>
        <p:spPr>
          <a:xfrm>
            <a:off x="2560320" y="758952"/>
            <a:ext cx="4023360" cy="411480"/>
          </a:xfrm>
          <a:prstGeom prst="rect">
            <a:avLst/>
          </a:prstGeom>
          <a:noFill/>
          <a:ln/>
        </p:spPr>
        <p:txBody>
          <a:bodyPr wrap="square" lIns="0" tIns="0" rIns="0" bIns="0" rtlCol="0" anchor="ctr"/>
          <a:lstStyle/>
          <a:p>
            <a:pPr algn="ctr" indent="0" marL="0">
              <a:buNone/>
            </a:pPr>
            <a:r>
              <a:rPr lang="en-US" sz="1100" b="1" dirty="0">
                <a:solidFill>
                  <a:srgbClr val="047857"/>
                </a:solidFill>
                <a:latin typeface="Calibri" pitchFamily="34" charset="0"/>
                <a:ea typeface="Calibri" pitchFamily="34" charset="-122"/>
                <a:cs typeface="Calibri" pitchFamily="34" charset="-120"/>
              </a:rPr>
              <a:t>A: LEGAL PRACTICE  —  Law Firms  ·  Corporate Legal</a:t>
            </a:r>
            <a:endParaRPr lang="en-US" sz="1100" dirty="0"/>
          </a:p>
        </p:txBody>
      </p:sp>
      <p:sp>
        <p:nvSpPr>
          <p:cNvPr id="8" name="Shape 6"/>
          <p:cNvSpPr/>
          <p:nvPr/>
        </p:nvSpPr>
        <p:spPr>
          <a:xfrm>
            <a:off x="4572000" y="1234440"/>
            <a:ext cx="0" cy="594360"/>
          </a:xfrm>
          <a:prstGeom prst="line">
            <a:avLst/>
          </a:prstGeom>
          <a:noFill/>
          <a:ln w="15240">
            <a:solidFill>
              <a:srgbClr val="E5E7EB"/>
            </a:solidFill>
            <a:prstDash val="solid"/>
          </a:ln>
        </p:spPr>
      </p:sp>
      <p:sp>
        <p:nvSpPr>
          <p:cNvPr id="9" name="Shape 7"/>
          <p:cNvSpPr/>
          <p:nvPr/>
        </p:nvSpPr>
        <p:spPr>
          <a:xfrm>
            <a:off x="274320" y="3474720"/>
            <a:ext cx="3840480" cy="502920"/>
          </a:xfrm>
          <a:prstGeom prst="roundRect">
            <a:avLst>
              <a:gd name="adj" fmla="val 10909"/>
            </a:avLst>
          </a:prstGeom>
          <a:solidFill>
            <a:srgbClr val="FEF3C7"/>
          </a:solidFill>
          <a:ln w="15240">
            <a:solidFill>
              <a:srgbClr val="B45309"/>
            </a:solidFill>
            <a:prstDash val="solid"/>
          </a:ln>
        </p:spPr>
      </p:sp>
      <p:sp>
        <p:nvSpPr>
          <p:cNvPr id="10" name="Text 8"/>
          <p:cNvSpPr/>
          <p:nvPr/>
        </p:nvSpPr>
        <p:spPr>
          <a:xfrm>
            <a:off x="274320" y="3502152"/>
            <a:ext cx="3840480" cy="411480"/>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B: ENTERPRISE  —  GCCs  ·  Legal Tech  ·  Consulting</a:t>
            </a:r>
            <a:endParaRPr lang="en-US" sz="1100" dirty="0"/>
          </a:p>
        </p:txBody>
      </p:sp>
      <p:sp>
        <p:nvSpPr>
          <p:cNvPr id="11" name="Shape 9"/>
          <p:cNvSpPr/>
          <p:nvPr/>
        </p:nvSpPr>
        <p:spPr>
          <a:xfrm>
            <a:off x="3383280" y="3108960"/>
            <a:ext cx="0" cy="365760"/>
          </a:xfrm>
          <a:prstGeom prst="line">
            <a:avLst/>
          </a:prstGeom>
          <a:noFill/>
          <a:ln w="15240">
            <a:solidFill>
              <a:srgbClr val="E5E7EB"/>
            </a:solidFill>
            <a:prstDash val="solid"/>
          </a:ln>
        </p:spPr>
      </p:sp>
      <p:sp>
        <p:nvSpPr>
          <p:cNvPr id="12" name="Shape 10"/>
          <p:cNvSpPr/>
          <p:nvPr/>
        </p:nvSpPr>
        <p:spPr>
          <a:xfrm>
            <a:off x="5029200" y="3474720"/>
            <a:ext cx="3840480" cy="502920"/>
          </a:xfrm>
          <a:prstGeom prst="roundRect">
            <a:avLst>
              <a:gd name="adj" fmla="val 10909"/>
            </a:avLst>
          </a:prstGeom>
          <a:solidFill>
            <a:srgbClr val="EDE9FE"/>
          </a:solidFill>
          <a:ln w="15240">
            <a:solidFill>
              <a:srgbClr val="6D28D9"/>
            </a:solidFill>
            <a:prstDash val="solid"/>
          </a:ln>
        </p:spPr>
      </p:sp>
      <p:sp>
        <p:nvSpPr>
          <p:cNvPr id="13" name="Text 11"/>
          <p:cNvSpPr/>
          <p:nvPr/>
        </p:nvSpPr>
        <p:spPr>
          <a:xfrm>
            <a:off x="5029200" y="3502152"/>
            <a:ext cx="3840480" cy="411480"/>
          </a:xfrm>
          <a:prstGeom prst="rect">
            <a:avLst/>
          </a:prstGeom>
          <a:noFill/>
          <a:ln/>
        </p:spPr>
        <p:txBody>
          <a:bodyPr wrap="square" lIns="0" tIns="0" rIns="0" bIns="0" rtlCol="0" anchor="ctr"/>
          <a:lstStyle/>
          <a:p>
            <a:pPr algn="ctr" indent="0" marL="0">
              <a:buNone/>
            </a:pPr>
            <a:r>
              <a:rPr lang="en-US" sz="1100" b="1" dirty="0">
                <a:solidFill>
                  <a:srgbClr val="6D28D9"/>
                </a:solidFill>
                <a:latin typeface="Calibri" pitchFamily="34" charset="0"/>
                <a:ea typeface="Calibri" pitchFamily="34" charset="-122"/>
                <a:cs typeface="Calibri" pitchFamily="34" charset="-120"/>
              </a:rPr>
              <a:t>C: PUBLIC  —  Courts  ·  Regulators  ·  Government</a:t>
            </a:r>
            <a:endParaRPr lang="en-US" sz="1100" dirty="0"/>
          </a:p>
        </p:txBody>
      </p:sp>
      <p:sp>
        <p:nvSpPr>
          <p:cNvPr id="14" name="Shape 12"/>
          <p:cNvSpPr/>
          <p:nvPr/>
        </p:nvSpPr>
        <p:spPr>
          <a:xfrm>
            <a:off x="5760720" y="3108960"/>
            <a:ext cx="0" cy="365760"/>
          </a:xfrm>
          <a:prstGeom prst="line">
            <a:avLst/>
          </a:prstGeom>
          <a:noFill/>
          <a:ln w="15240">
            <a:solidFill>
              <a:srgbClr val="E5E7EB"/>
            </a:solidFill>
            <a:prstDash val="solid"/>
          </a:ln>
        </p:spPr>
      </p:sp>
      <p:sp>
        <p:nvSpPr>
          <p:cNvPr id="15" name="Text 13"/>
          <p:cNvSpPr/>
          <p:nvPr/>
        </p:nvSpPr>
        <p:spPr>
          <a:xfrm>
            <a:off x="457200" y="4297680"/>
            <a:ext cx="8229600" cy="3657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Three territories. One common requirement: AI governance capability.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Territory A: Legal Practice</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Law firms and corporate legal departments</a:t>
            </a:r>
            <a:endParaRPr lang="en-US" sz="1200" dirty="0"/>
          </a:p>
        </p:txBody>
      </p:sp>
      <p:sp>
        <p:nvSpPr>
          <p:cNvPr id="4" name="Shape 2"/>
          <p:cNvSpPr/>
          <p:nvPr/>
        </p:nvSpPr>
        <p:spPr>
          <a:xfrm>
            <a:off x="457200" y="1097280"/>
            <a:ext cx="3931920" cy="2926080"/>
          </a:xfrm>
          <a:prstGeom prst="roundRect">
            <a:avLst>
              <a:gd name="adj" fmla="val 2500"/>
            </a:avLst>
          </a:prstGeom>
          <a:solidFill>
            <a:srgbClr val="D1FAE5"/>
          </a:solidFill>
          <a:ln/>
          <a:effectLst>
            <a:outerShdw sx="100000" sy="100000" kx="0" ky="0" algn="bl" rotWithShape="0" blurRad="50800" dist="12700" dir="16200000">
              <a:srgbClr val="000000">
                <a:alpha val="8000"/>
              </a:srgbClr>
            </a:outerShdw>
          </a:effectLst>
        </p:spPr>
      </p:sp>
      <p:sp>
        <p:nvSpPr>
          <p:cNvPr id="5" name="Text 3"/>
          <p:cNvSpPr/>
          <p:nvPr/>
        </p:nvSpPr>
        <p:spPr>
          <a:xfrm>
            <a:off x="640080" y="1234440"/>
            <a:ext cx="3566160" cy="320040"/>
          </a:xfrm>
          <a:prstGeom prst="rect">
            <a:avLst/>
          </a:prstGeom>
          <a:noFill/>
          <a:ln/>
        </p:spPr>
        <p:txBody>
          <a:bodyPr wrap="square" lIns="0" tIns="0" rIns="0" bIns="0" rtlCol="0" anchor="ctr"/>
          <a:lstStyle/>
          <a:p>
            <a:pPr algn="l" indent="0" marL="0">
              <a:buNone/>
            </a:pPr>
            <a:r>
              <a:rPr lang="en-US" sz="1300" b="1" dirty="0">
                <a:solidFill>
                  <a:srgbClr val="047857"/>
                </a:solidFill>
                <a:latin typeface="Calibri" pitchFamily="34" charset="0"/>
                <a:ea typeface="Calibri" pitchFamily="34" charset="-122"/>
                <a:cs typeface="Calibri" pitchFamily="34" charset="-120"/>
              </a:rPr>
              <a:t>TECHNOLOGY-ENABLED LAW FIRMS</a:t>
            </a:r>
            <a:endParaRPr lang="en-US" sz="1300" dirty="0"/>
          </a:p>
        </p:txBody>
      </p:sp>
      <p:sp>
        <p:nvSpPr>
          <p:cNvPr id="6" name="Text 4"/>
          <p:cNvSpPr/>
          <p:nvPr/>
        </p:nvSpPr>
        <p:spPr>
          <a:xfrm>
            <a:off x="640080" y="1645920"/>
            <a:ext cx="3566160" cy="548640"/>
          </a:xfrm>
          <a:prstGeom prst="rect">
            <a:avLst/>
          </a:prstGeom>
          <a:noFill/>
          <a:ln/>
        </p:spPr>
        <p:txBody>
          <a:bodyPr wrap="square" lIns="0" tIns="0" rIns="0" bIns="0"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Roles: </a:t>
            </a:r>
            <a:pPr indent="0" marL="0">
              <a:buNone/>
            </a:pPr>
            <a:r>
              <a:rPr lang="en-US" sz="1100" dirty="0">
                <a:solidFill>
                  <a:srgbClr val="374151"/>
                </a:solidFill>
                <a:latin typeface="Calibri" pitchFamily="34" charset="0"/>
                <a:ea typeface="Calibri" pitchFamily="34" charset="-122"/>
                <a:cs typeface="Calibri" pitchFamily="34" charset="-120"/>
              </a:rPr>
              <a:t>AI-assisted research, TMT practice, data protection, legal operations, knowledge management, innovation</a:t>
            </a:r>
            <a:endParaRPr lang="en-US" sz="1100" dirty="0"/>
          </a:p>
        </p:txBody>
      </p:sp>
      <p:sp>
        <p:nvSpPr>
          <p:cNvPr id="7" name="Text 5"/>
          <p:cNvSpPr/>
          <p:nvPr/>
        </p:nvSpPr>
        <p:spPr>
          <a:xfrm>
            <a:off x="640080" y="2286000"/>
            <a:ext cx="3566160" cy="274320"/>
          </a:xfrm>
          <a:prstGeom prst="rect">
            <a:avLst/>
          </a:prstGeom>
          <a:noFill/>
          <a:ln/>
        </p:spPr>
        <p:txBody>
          <a:bodyPr wrap="square" lIns="0" tIns="0" rIns="0" bIns="0"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Firms: </a:t>
            </a:r>
            <a:pPr indent="0" marL="0">
              <a:buNone/>
            </a:pPr>
            <a:r>
              <a:rPr lang="en-US" sz="1100" dirty="0">
                <a:solidFill>
                  <a:srgbClr val="374151"/>
                </a:solidFill>
                <a:latin typeface="Calibri" pitchFamily="34" charset="0"/>
                <a:ea typeface="Calibri" pitchFamily="34" charset="-122"/>
                <a:cs typeface="Calibri" pitchFamily="34" charset="-120"/>
              </a:rPr>
              <a:t>Khaitan, CAM, AZB, Trilegal, S&amp;R, JSA</a:t>
            </a:r>
            <a:endParaRPr lang="en-US" sz="1100" dirty="0"/>
          </a:p>
        </p:txBody>
      </p:sp>
      <p:sp>
        <p:nvSpPr>
          <p:cNvPr id="8" name="Text 6"/>
          <p:cNvSpPr/>
          <p:nvPr/>
        </p:nvSpPr>
        <p:spPr>
          <a:xfrm>
            <a:off x="640080" y="2651760"/>
            <a:ext cx="3566160" cy="54864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Signal: </a:t>
            </a:r>
            <a:pPr indent="0" marL="0">
              <a:buNone/>
            </a:pPr>
            <a:r>
              <a:rPr lang="en-US" sz="1100" dirty="0">
                <a:solidFill>
                  <a:srgbClr val="374151"/>
                </a:solidFill>
                <a:latin typeface="Calibri" pitchFamily="34" charset="0"/>
                <a:ea typeface="Calibri" pitchFamily="34" charset="-122"/>
                <a:cs typeface="Calibri" pitchFamily="34" charset="-120"/>
              </a:rPr>
              <a:t>Khaitan established an AI Governance Committee and built ask.KAI. Trilegal reports AI is 'well beyond pilot stage.'</a:t>
            </a:r>
            <a:endParaRPr lang="en-US" sz="1100" dirty="0"/>
          </a:p>
        </p:txBody>
      </p:sp>
      <p:sp>
        <p:nvSpPr>
          <p:cNvPr id="9" name="Text 7"/>
          <p:cNvSpPr/>
          <p:nvPr/>
        </p:nvSpPr>
        <p:spPr>
          <a:xfrm>
            <a:off x="640080" y="3291840"/>
            <a:ext cx="3566160" cy="457200"/>
          </a:xfrm>
          <a:prstGeom prst="rect">
            <a:avLst/>
          </a:prstGeom>
          <a:noFill/>
          <a:ln/>
        </p:spPr>
        <p:txBody>
          <a:bodyPr wrap="square" lIns="0" tIns="0" rIns="0" bIns="0" rtlCol="0" anchor="ctr"/>
          <a:lstStyle/>
          <a:p>
            <a:pPr indent="0" marL="0">
              <a:buNone/>
            </a:pPr>
            <a:r>
              <a:rPr lang="en-US" sz="1100" b="1" i="1" dirty="0">
                <a:solidFill>
                  <a:srgbClr val="1B2A4A"/>
                </a:solidFill>
                <a:latin typeface="Calibri" pitchFamily="34" charset="0"/>
                <a:ea typeface="Calibri" pitchFamily="34" charset="-122"/>
                <a:cs typeface="Calibri" pitchFamily="34" charset="-120"/>
              </a:rPr>
              <a:t>86% of large firms increasing associates—but only 35% growing first-year classes.</a:t>
            </a:r>
            <a:endParaRPr lang="en-US" sz="1100" dirty="0"/>
          </a:p>
        </p:txBody>
      </p:sp>
      <p:sp>
        <p:nvSpPr>
          <p:cNvPr id="10" name="Shape 8"/>
          <p:cNvSpPr/>
          <p:nvPr/>
        </p:nvSpPr>
        <p:spPr>
          <a:xfrm>
            <a:off x="4754880" y="1097280"/>
            <a:ext cx="3931920" cy="2926080"/>
          </a:xfrm>
          <a:prstGeom prst="roundRect">
            <a:avLst>
              <a:gd name="adj" fmla="val 2500"/>
            </a:avLst>
          </a:prstGeom>
          <a:solidFill>
            <a:srgbClr val="DBEAFE"/>
          </a:solidFill>
          <a:ln/>
          <a:effectLst>
            <a:outerShdw sx="100000" sy="100000" kx="0" ky="0" algn="bl" rotWithShape="0" blurRad="50800" dist="12700" dir="16200000">
              <a:srgbClr val="000000">
                <a:alpha val="8000"/>
              </a:srgbClr>
            </a:outerShdw>
          </a:effectLst>
        </p:spPr>
      </p:sp>
      <p:sp>
        <p:nvSpPr>
          <p:cNvPr id="11" name="Text 9"/>
          <p:cNvSpPr/>
          <p:nvPr/>
        </p:nvSpPr>
        <p:spPr>
          <a:xfrm>
            <a:off x="4937760" y="1234440"/>
            <a:ext cx="3566160" cy="320040"/>
          </a:xfrm>
          <a:prstGeom prst="rect">
            <a:avLst/>
          </a:prstGeom>
          <a:noFill/>
          <a:ln/>
        </p:spPr>
        <p:txBody>
          <a:bodyPr wrap="square" lIns="0" tIns="0" rIns="0" bIns="0" rtlCol="0" anchor="ctr"/>
          <a:lstStyle/>
          <a:p>
            <a:pPr algn="l" indent="0" marL="0">
              <a:buNone/>
            </a:pPr>
            <a:r>
              <a:rPr lang="en-US" sz="1300" b="1" dirty="0">
                <a:solidFill>
                  <a:srgbClr val="1E40AF"/>
                </a:solidFill>
                <a:latin typeface="Calibri" pitchFamily="34" charset="0"/>
                <a:ea typeface="Calibri" pitchFamily="34" charset="-122"/>
                <a:cs typeface="Calibri" pitchFamily="34" charset="-120"/>
              </a:rPr>
              <a:t>CORPORATE LEGAL DEPARTMENTS</a:t>
            </a:r>
            <a:endParaRPr lang="en-US" sz="1300" dirty="0"/>
          </a:p>
        </p:txBody>
      </p:sp>
      <p:sp>
        <p:nvSpPr>
          <p:cNvPr id="12" name="Text 10"/>
          <p:cNvSpPr/>
          <p:nvPr/>
        </p:nvSpPr>
        <p:spPr>
          <a:xfrm>
            <a:off x="4937760" y="1645920"/>
            <a:ext cx="3566160" cy="731520"/>
          </a:xfrm>
          <a:prstGeom prst="rect">
            <a:avLst/>
          </a:prstGeom>
          <a:noFill/>
          <a:ln/>
        </p:spPr>
        <p:txBody>
          <a:bodyPr wrap="square" lIns="0" tIns="0" rIns="0" bIns="0"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Roles: </a:t>
            </a:r>
            <a:pPr indent="0" marL="0">
              <a:buNone/>
            </a:pPr>
            <a:r>
              <a:rPr lang="en-US" sz="1100" dirty="0">
                <a:solidFill>
                  <a:srgbClr val="374151"/>
                </a:solidFill>
                <a:latin typeface="Calibri" pitchFamily="34" charset="0"/>
                <a:ea typeface="Calibri" pitchFamily="34" charset="-122"/>
                <a:cs typeface="Calibri" pitchFamily="34" charset="-120"/>
              </a:rPr>
              <a:t>Contract lifecycle management, AI procurement, privacy operations, regulatory scanning, AI-use policy design, governance committees</a:t>
            </a:r>
            <a:endParaRPr lang="en-US" sz="1100" dirty="0"/>
          </a:p>
        </p:txBody>
      </p:sp>
      <p:sp>
        <p:nvSpPr>
          <p:cNvPr id="13" name="Text 11"/>
          <p:cNvSpPr/>
          <p:nvPr/>
        </p:nvSpPr>
        <p:spPr>
          <a:xfrm>
            <a:off x="4937760" y="2468880"/>
            <a:ext cx="3566160" cy="54864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Signal: </a:t>
            </a:r>
            <a:pPr indent="0" marL="0">
              <a:buNone/>
            </a:pPr>
            <a:r>
              <a:rPr lang="en-US" sz="1100" dirty="0">
                <a:solidFill>
                  <a:srgbClr val="374151"/>
                </a:solidFill>
                <a:latin typeface="Calibri" pitchFamily="34" charset="0"/>
                <a:ea typeface="Calibri" pitchFamily="34" charset="-122"/>
                <a:cs typeface="Calibri" pitchFamily="34" charset="-120"/>
              </a:rPr>
              <a:t>Deloitte: 61% of corporate legal departments in active AI deployment. 28% of legal work expected automatable within 2–3 years.</a:t>
            </a:r>
            <a:endParaRPr lang="en-US" sz="1100" dirty="0"/>
          </a:p>
        </p:txBody>
      </p:sp>
      <p:sp>
        <p:nvSpPr>
          <p:cNvPr id="14" name="Text 12"/>
          <p:cNvSpPr/>
          <p:nvPr/>
        </p:nvSpPr>
        <p:spPr>
          <a:xfrm>
            <a:off x="4937760" y="3200400"/>
            <a:ext cx="3566160" cy="548640"/>
          </a:xfrm>
          <a:prstGeom prst="rect">
            <a:avLst/>
          </a:prstGeom>
          <a:noFill/>
          <a:ln/>
        </p:spPr>
        <p:txBody>
          <a:bodyPr wrap="square" lIns="0" tIns="0" rIns="0" bIns="0" rtlCol="0" anchor="ctr"/>
          <a:lstStyle/>
          <a:p>
            <a:pPr indent="0" marL="0">
              <a:buNone/>
            </a:pPr>
            <a:r>
              <a:rPr lang="en-US" sz="1100" b="1" i="1" dirty="0">
                <a:solidFill>
                  <a:srgbClr val="1B2A4A"/>
                </a:solidFill>
                <a:latin typeface="Calibri" pitchFamily="34" charset="0"/>
                <a:ea typeface="Calibri" pitchFamily="34" charset="-122"/>
                <a:cs typeface="Calibri" pitchFamily="34" charset="-120"/>
              </a:rPr>
              <a:t>Every large organisation now needs someone who can draft an AI-use policy, run a DPIA, and evaluate AI vendor contracts.</a:t>
            </a:r>
            <a:endParaRPr lang="en-US" sz="1100" dirty="0"/>
          </a:p>
        </p:txBody>
      </p:sp>
      <p:sp>
        <p:nvSpPr>
          <p:cNvPr id="15" name="Text 13"/>
          <p:cNvSpPr/>
          <p:nvPr/>
        </p:nvSpPr>
        <p:spPr>
          <a:xfrm>
            <a:off x="457200" y="4297680"/>
            <a:ext cx="8229600" cy="3657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Fewer juniors who can do more, faster. The entry bar is higher. The reward is larger.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Territory B: Technology &amp; Enterprise</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GCCs, legal tech, and consulting firms</a:t>
            </a:r>
            <a:endParaRPr lang="en-US" sz="1200" dirty="0"/>
          </a:p>
        </p:txBody>
      </p:sp>
      <p:sp>
        <p:nvSpPr>
          <p:cNvPr id="4" name="Shape 2"/>
          <p:cNvSpPr/>
          <p:nvPr/>
        </p:nvSpPr>
        <p:spPr>
          <a:xfrm>
            <a:off x="457200" y="1097280"/>
            <a:ext cx="3931920" cy="3200400"/>
          </a:xfrm>
          <a:prstGeom prst="roundRect">
            <a:avLst>
              <a:gd name="adj" fmla="val 2286"/>
            </a:avLst>
          </a:prstGeom>
          <a:solidFill>
            <a:srgbClr val="FEF3C7"/>
          </a:solidFill>
          <a:ln/>
          <a:effectLst>
            <a:outerShdw sx="100000" sy="100000" kx="0" ky="0" algn="bl" rotWithShape="0" blurRad="50800" dist="12700" dir="16200000">
              <a:srgbClr val="000000">
                <a:alpha val="8000"/>
              </a:srgbClr>
            </a:outerShdw>
          </a:effectLst>
        </p:spPr>
      </p:sp>
      <p:sp>
        <p:nvSpPr>
          <p:cNvPr id="5" name="Text 3"/>
          <p:cNvSpPr/>
          <p:nvPr/>
        </p:nvSpPr>
        <p:spPr>
          <a:xfrm>
            <a:off x="640080" y="1234440"/>
            <a:ext cx="3566160" cy="320040"/>
          </a:xfrm>
          <a:prstGeom prst="rect">
            <a:avLst/>
          </a:prstGeom>
          <a:noFill/>
          <a:ln/>
        </p:spPr>
        <p:txBody>
          <a:bodyPr wrap="square" lIns="0" tIns="0" rIns="0" bIns="0" rtlCol="0" anchor="ctr"/>
          <a:lstStyle/>
          <a:p>
            <a:pPr algn="l" indent="0" marL="0">
              <a:buNone/>
            </a:pPr>
            <a:r>
              <a:rPr lang="en-US" sz="1300" b="1" dirty="0">
                <a:solidFill>
                  <a:srgbClr val="B45309"/>
                </a:solidFill>
                <a:latin typeface="Calibri" pitchFamily="34" charset="0"/>
                <a:ea typeface="Calibri" pitchFamily="34" charset="-122"/>
                <a:cs typeface="Calibri" pitchFamily="34" charset="-120"/>
              </a:rPr>
              <a:t>GCCs — THE HIDDEN MARKET</a:t>
            </a:r>
            <a:endParaRPr lang="en-US" sz="1300" dirty="0"/>
          </a:p>
        </p:txBody>
      </p:sp>
      <p:sp>
        <p:nvSpPr>
          <p:cNvPr id="6" name="Text 4"/>
          <p:cNvSpPr/>
          <p:nvPr/>
        </p:nvSpPr>
        <p:spPr>
          <a:xfrm>
            <a:off x="640080" y="1645920"/>
            <a:ext cx="3566160" cy="27432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~2,100+ centres  ·  ~2.36 million employees</a:t>
            </a:r>
            <a:endParaRPr lang="en-US" sz="1800" dirty="0"/>
          </a:p>
        </p:txBody>
      </p:sp>
      <p:sp>
        <p:nvSpPr>
          <p:cNvPr id="7" name="Text 5"/>
          <p:cNvSpPr/>
          <p:nvPr/>
        </p:nvSpPr>
        <p:spPr>
          <a:xfrm>
            <a:off x="640080" y="2011680"/>
            <a:ext cx="3566160" cy="640080"/>
          </a:xfrm>
          <a:prstGeom prst="rect">
            <a:avLst/>
          </a:prstGeom>
          <a:noFill/>
          <a:ln/>
        </p:spPr>
        <p:txBody>
          <a:bodyPr wrap="square" lIns="0" tIns="0" rIns="0" bIns="0"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Roles: </a:t>
            </a:r>
            <a:pPr indent="0" marL="0">
              <a:buNone/>
            </a:pPr>
            <a:r>
              <a:rPr lang="en-US" sz="1100" dirty="0">
                <a:solidFill>
                  <a:srgbClr val="374151"/>
                </a:solidFill>
                <a:latin typeface="Calibri" pitchFamily="34" charset="0"/>
                <a:ea typeface="Calibri" pitchFamily="34" charset="-122"/>
                <a:cs typeface="Calibri" pitchFamily="34" charset="-120"/>
              </a:rPr>
              <a:t>Global contracting, privacy operations, compliance, e-discovery, investigations, legal tech administration, AI vendor governance, cyber risk</a:t>
            </a:r>
            <a:endParaRPr lang="en-US" sz="1100" dirty="0"/>
          </a:p>
        </p:txBody>
      </p:sp>
      <p:sp>
        <p:nvSpPr>
          <p:cNvPr id="8" name="Text 6"/>
          <p:cNvSpPr/>
          <p:nvPr/>
        </p:nvSpPr>
        <p:spPr>
          <a:xfrm>
            <a:off x="640080" y="2743200"/>
            <a:ext cx="3566160" cy="45720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Nearly two-thirds of new GCC recruitment is now associated with AI-related capability requirements.</a:t>
            </a:r>
            <a:endParaRPr lang="en-US" sz="1100" dirty="0"/>
          </a:p>
        </p:txBody>
      </p:sp>
      <p:sp>
        <p:nvSpPr>
          <p:cNvPr id="9" name="Text 7"/>
          <p:cNvSpPr/>
          <p:nvPr/>
        </p:nvSpPr>
        <p:spPr>
          <a:xfrm>
            <a:off x="640080" y="3291840"/>
            <a:ext cx="3566160" cy="365760"/>
          </a:xfrm>
          <a:prstGeom prst="rect">
            <a:avLst/>
          </a:prstGeom>
          <a:noFill/>
          <a:ln/>
        </p:spPr>
        <p:txBody>
          <a:bodyPr wrap="square" lIns="0" tIns="0" rIns="0" bIns="0" rtlCol="0" anchor="ctr"/>
          <a:lstStyle/>
          <a:p>
            <a:pPr indent="0" marL="0">
              <a:buNone/>
            </a:pPr>
            <a:r>
              <a:rPr lang="en-US" sz="1200" b="1" i="1" dirty="0">
                <a:solidFill>
                  <a:srgbClr val="1B2A4A"/>
                </a:solidFill>
                <a:latin typeface="Calibri" pitchFamily="34" charset="0"/>
                <a:ea typeface="Calibri" pitchFamily="34" charset="-122"/>
                <a:cs typeface="Calibri" pitchFamily="34" charset="-120"/>
              </a:rPr>
              <a:t>Chennai is a major GCC hub. These employers are in your city.</a:t>
            </a:r>
            <a:endParaRPr lang="en-US" sz="1200" dirty="0"/>
          </a:p>
        </p:txBody>
      </p:sp>
      <p:sp>
        <p:nvSpPr>
          <p:cNvPr id="10" name="Shape 8"/>
          <p:cNvSpPr/>
          <p:nvPr/>
        </p:nvSpPr>
        <p:spPr>
          <a:xfrm>
            <a:off x="4754880" y="1097280"/>
            <a:ext cx="3931920" cy="1463040"/>
          </a:xfrm>
          <a:prstGeom prst="roundRect">
            <a:avLst>
              <a:gd name="adj" fmla="val 5000"/>
            </a:avLst>
          </a:prstGeom>
          <a:solidFill>
            <a:srgbClr val="DBEAFE"/>
          </a:solidFill>
          <a:ln/>
          <a:effectLst>
            <a:outerShdw sx="100000" sy="100000" kx="0" ky="0" algn="bl" rotWithShape="0" blurRad="50800" dist="12700" dir="16200000">
              <a:srgbClr val="000000">
                <a:alpha val="8000"/>
              </a:srgbClr>
            </a:outerShdw>
          </a:effectLst>
        </p:spPr>
      </p:sp>
      <p:sp>
        <p:nvSpPr>
          <p:cNvPr id="11" name="Text 9"/>
          <p:cNvSpPr/>
          <p:nvPr/>
        </p:nvSpPr>
        <p:spPr>
          <a:xfrm>
            <a:off x="4937760" y="1234440"/>
            <a:ext cx="3566160" cy="274320"/>
          </a:xfrm>
          <a:prstGeom prst="rect">
            <a:avLst/>
          </a:prstGeom>
          <a:noFill/>
          <a:ln/>
        </p:spPr>
        <p:txBody>
          <a:bodyPr wrap="square" lIns="0" tIns="0" rIns="0" bIns="0" rtlCol="0" anchor="ctr"/>
          <a:lstStyle/>
          <a:p>
            <a:pPr algn="l" indent="0" marL="0">
              <a:buNone/>
            </a:pPr>
            <a:r>
              <a:rPr lang="en-US" sz="1200" b="1" dirty="0">
                <a:solidFill>
                  <a:srgbClr val="1E40AF"/>
                </a:solidFill>
                <a:latin typeface="Calibri" pitchFamily="34" charset="0"/>
                <a:ea typeface="Calibri" pitchFamily="34" charset="-122"/>
                <a:cs typeface="Calibri" pitchFamily="34" charset="-120"/>
              </a:rPr>
              <a:t>LEGAL TECH &amp; REGTECH</a:t>
            </a:r>
            <a:endParaRPr lang="en-US" sz="1200" dirty="0"/>
          </a:p>
        </p:txBody>
      </p:sp>
      <p:sp>
        <p:nvSpPr>
          <p:cNvPr id="12" name="Text 10"/>
          <p:cNvSpPr/>
          <p:nvPr/>
        </p:nvSpPr>
        <p:spPr>
          <a:xfrm>
            <a:off x="4937760" y="1554480"/>
            <a:ext cx="3566160" cy="274320"/>
          </a:xfrm>
          <a:prstGeom prst="rect">
            <a:avLst/>
          </a:prstGeom>
          <a:noFill/>
          <a:ln/>
        </p:spPr>
        <p:txBody>
          <a:bodyPr wrap="square" lIns="0" tIns="0" rIns="0" bIns="0"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SpotDraft ($54M) · CaseMine · Legistify</a:t>
            </a:r>
            <a:endParaRPr lang="en-US" sz="1100" dirty="0"/>
          </a:p>
        </p:txBody>
      </p:sp>
      <p:sp>
        <p:nvSpPr>
          <p:cNvPr id="13" name="Text 11"/>
          <p:cNvSpPr/>
          <p:nvPr/>
        </p:nvSpPr>
        <p:spPr>
          <a:xfrm>
            <a:off x="4937760" y="1828800"/>
            <a:ext cx="3566160" cy="548640"/>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Market: $38B → $70–78B by 2031</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AI sub-segment: 27% CAGR</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Need: domain specialists, not coders</a:t>
            </a:r>
            <a:endParaRPr lang="en-US" sz="1000" dirty="0"/>
          </a:p>
        </p:txBody>
      </p:sp>
      <p:sp>
        <p:nvSpPr>
          <p:cNvPr id="14" name="Shape 12"/>
          <p:cNvSpPr/>
          <p:nvPr/>
        </p:nvSpPr>
        <p:spPr>
          <a:xfrm>
            <a:off x="4754880" y="2743200"/>
            <a:ext cx="3931920" cy="1554480"/>
          </a:xfrm>
          <a:prstGeom prst="roundRect">
            <a:avLst>
              <a:gd name="adj" fmla="val 4706"/>
            </a:avLst>
          </a:prstGeom>
          <a:solidFill>
            <a:srgbClr val="EDE9FE"/>
          </a:solidFill>
          <a:ln/>
          <a:effectLst>
            <a:outerShdw sx="100000" sy="100000" kx="0" ky="0" algn="bl" rotWithShape="0" blurRad="50800" dist="12700" dir="16200000">
              <a:srgbClr val="000000">
                <a:alpha val="8000"/>
              </a:srgbClr>
            </a:outerShdw>
          </a:effectLst>
        </p:spPr>
      </p:sp>
      <p:sp>
        <p:nvSpPr>
          <p:cNvPr id="15" name="Text 13"/>
          <p:cNvSpPr/>
          <p:nvPr/>
        </p:nvSpPr>
        <p:spPr>
          <a:xfrm>
            <a:off x="4937760" y="2880360"/>
            <a:ext cx="3566160" cy="274320"/>
          </a:xfrm>
          <a:prstGeom prst="rect">
            <a:avLst/>
          </a:prstGeom>
          <a:noFill/>
          <a:ln/>
        </p:spPr>
        <p:txBody>
          <a:bodyPr wrap="square" lIns="0" tIns="0" rIns="0" bIns="0" rtlCol="0" anchor="ctr"/>
          <a:lstStyle/>
          <a:p>
            <a:pPr algn="l" indent="0" marL="0">
              <a:buNone/>
            </a:pPr>
            <a:r>
              <a:rPr lang="en-US" sz="1200" b="1" dirty="0">
                <a:solidFill>
                  <a:srgbClr val="6D28D9"/>
                </a:solidFill>
                <a:latin typeface="Calibri" pitchFamily="34" charset="0"/>
                <a:ea typeface="Calibri" pitchFamily="34" charset="-122"/>
                <a:cs typeface="Calibri" pitchFamily="34" charset="-120"/>
              </a:rPr>
              <a:t>CONSULTING &amp; ASSURANCE</a:t>
            </a:r>
            <a:endParaRPr lang="en-US" sz="1200" dirty="0"/>
          </a:p>
        </p:txBody>
      </p:sp>
      <p:sp>
        <p:nvSpPr>
          <p:cNvPr id="16" name="Text 14"/>
          <p:cNvSpPr/>
          <p:nvPr/>
        </p:nvSpPr>
        <p:spPr>
          <a:xfrm>
            <a:off x="4937760" y="3200400"/>
            <a:ext cx="3566160" cy="274320"/>
          </a:xfrm>
          <a:prstGeom prst="rect">
            <a:avLst/>
          </a:prstGeom>
          <a:noFill/>
          <a:ln/>
        </p:spPr>
        <p:txBody>
          <a:bodyPr wrap="square" lIns="0" tIns="0" rIns="0" bIns="0"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Deloitte · BCG · EY · PwC · KPMG</a:t>
            </a:r>
            <a:endParaRPr lang="en-US" sz="1100" dirty="0"/>
          </a:p>
        </p:txBody>
      </p:sp>
      <p:sp>
        <p:nvSpPr>
          <p:cNvPr id="17" name="Text 15"/>
          <p:cNvSpPr/>
          <p:nvPr/>
        </p:nvSpPr>
        <p:spPr>
          <a:xfrm>
            <a:off x="4937760" y="3474720"/>
            <a:ext cx="3566160" cy="640080"/>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Now among top recruiters at NLUs.</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Roles: control frameworks, risk assessments,</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DPIAs, audit programmes, incident playbooks,</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board reporting on AI risk.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Territory C: Public Institutions</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Courts, regulators, and government digital programmes</a:t>
            </a:r>
            <a:endParaRPr lang="en-US" sz="1200" dirty="0"/>
          </a:p>
        </p:txBody>
      </p:sp>
      <p:sp>
        <p:nvSpPr>
          <p:cNvPr id="4" name="Shape 2"/>
          <p:cNvSpPr/>
          <p:nvPr/>
        </p:nvSpPr>
        <p:spPr>
          <a:xfrm>
            <a:off x="457200" y="1097280"/>
            <a:ext cx="2560320" cy="2926080"/>
          </a:xfrm>
          <a:prstGeom prst="roundRect">
            <a:avLst>
              <a:gd name="adj" fmla="val 2857"/>
            </a:avLst>
          </a:prstGeom>
          <a:solidFill>
            <a:srgbClr val="D1FAE5"/>
          </a:solidFill>
          <a:ln/>
          <a:effectLst>
            <a:outerShdw sx="100000" sy="100000" kx="0" ky="0" algn="bl" rotWithShape="0" blurRad="50800" dist="12700" dir="16200000">
              <a:srgbClr val="000000">
                <a:alpha val="8000"/>
              </a:srgbClr>
            </a:outerShdw>
          </a:effectLst>
        </p:spPr>
      </p:sp>
      <p:sp>
        <p:nvSpPr>
          <p:cNvPr id="5" name="Text 3"/>
          <p:cNvSpPr/>
          <p:nvPr/>
        </p:nvSpPr>
        <p:spPr>
          <a:xfrm>
            <a:off x="640080" y="1234440"/>
            <a:ext cx="2194560" cy="274320"/>
          </a:xfrm>
          <a:prstGeom prst="rect">
            <a:avLst/>
          </a:prstGeom>
          <a:noFill/>
          <a:ln/>
        </p:spPr>
        <p:txBody>
          <a:bodyPr wrap="square" lIns="0" tIns="0" rIns="0" bIns="0" rtlCol="0" anchor="ctr"/>
          <a:lstStyle/>
          <a:p>
            <a:pPr algn="l" indent="0" marL="0">
              <a:buNone/>
            </a:pPr>
            <a:r>
              <a:rPr lang="en-US" sz="1300" b="1" dirty="0">
                <a:solidFill>
                  <a:srgbClr val="047857"/>
                </a:solidFill>
                <a:latin typeface="Calibri" pitchFamily="34" charset="0"/>
                <a:ea typeface="Calibri" pitchFamily="34" charset="-122"/>
                <a:cs typeface="Calibri" pitchFamily="34" charset="-120"/>
              </a:rPr>
              <a:t>COURTS</a:t>
            </a:r>
            <a:endParaRPr lang="en-US" sz="1300" dirty="0"/>
          </a:p>
        </p:txBody>
      </p:sp>
      <p:sp>
        <p:nvSpPr>
          <p:cNvPr id="6" name="Text 4"/>
          <p:cNvSpPr/>
          <p:nvPr/>
        </p:nvSpPr>
        <p:spPr>
          <a:xfrm>
            <a:off x="640080" y="1600200"/>
            <a:ext cx="2194560" cy="219456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e-Courts Phase III</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₹7,210 crore budget</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Draft SC Regulations propose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an AI Committee and</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Secretariat in every</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High Court</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Digital evidence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Cyber forensics</a:t>
            </a:r>
            <a:endParaRPr lang="en-US" sz="1100" dirty="0"/>
          </a:p>
        </p:txBody>
      </p:sp>
      <p:sp>
        <p:nvSpPr>
          <p:cNvPr id="7" name="Shape 5"/>
          <p:cNvSpPr/>
          <p:nvPr/>
        </p:nvSpPr>
        <p:spPr>
          <a:xfrm>
            <a:off x="3291840" y="1097280"/>
            <a:ext cx="2560320" cy="2926080"/>
          </a:xfrm>
          <a:prstGeom prst="roundRect">
            <a:avLst>
              <a:gd name="adj" fmla="val 2857"/>
            </a:avLst>
          </a:prstGeom>
          <a:solidFill>
            <a:srgbClr val="DBEAFE"/>
          </a:solidFill>
          <a:ln/>
          <a:effectLst>
            <a:outerShdw sx="100000" sy="100000" kx="0" ky="0" algn="bl" rotWithShape="0" blurRad="50800" dist="12700" dir="16200000">
              <a:srgbClr val="000000">
                <a:alpha val="8000"/>
              </a:srgbClr>
            </a:outerShdw>
          </a:effectLst>
        </p:spPr>
      </p:sp>
      <p:sp>
        <p:nvSpPr>
          <p:cNvPr id="8" name="Text 6"/>
          <p:cNvSpPr/>
          <p:nvPr/>
        </p:nvSpPr>
        <p:spPr>
          <a:xfrm>
            <a:off x="3474720" y="1234440"/>
            <a:ext cx="2194560" cy="274320"/>
          </a:xfrm>
          <a:prstGeom prst="rect">
            <a:avLst/>
          </a:prstGeom>
          <a:noFill/>
          <a:ln/>
        </p:spPr>
        <p:txBody>
          <a:bodyPr wrap="square" lIns="0" tIns="0" rIns="0" bIns="0" rtlCol="0" anchor="ctr"/>
          <a:lstStyle/>
          <a:p>
            <a:pPr algn="l" indent="0" marL="0">
              <a:buNone/>
            </a:pPr>
            <a:r>
              <a:rPr lang="en-US" sz="1300" b="1" dirty="0">
                <a:solidFill>
                  <a:srgbClr val="1E40AF"/>
                </a:solidFill>
                <a:latin typeface="Calibri" pitchFamily="34" charset="0"/>
                <a:ea typeface="Calibri" pitchFamily="34" charset="-122"/>
                <a:cs typeface="Calibri" pitchFamily="34" charset="-120"/>
              </a:rPr>
              <a:t>REGULATORS</a:t>
            </a:r>
            <a:endParaRPr lang="en-US" sz="1300" dirty="0"/>
          </a:p>
        </p:txBody>
      </p:sp>
      <p:sp>
        <p:nvSpPr>
          <p:cNvPr id="9" name="Text 7"/>
          <p:cNvSpPr/>
          <p:nvPr/>
        </p:nvSpPr>
        <p:spPr>
          <a:xfrm>
            <a:off x="3474720" y="1600200"/>
            <a:ext cx="2194560" cy="219456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Data Protection Board</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(staffing up for Phase 3)</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MeitY AIGG</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AISI</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TPEC</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Sectoral AI governance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units at RBI, SEBI, IRDAI</a:t>
            </a:r>
            <a:endParaRPr lang="en-US" sz="1100" dirty="0"/>
          </a:p>
        </p:txBody>
      </p:sp>
      <p:sp>
        <p:nvSpPr>
          <p:cNvPr id="10" name="Shape 8"/>
          <p:cNvSpPr/>
          <p:nvPr/>
        </p:nvSpPr>
        <p:spPr>
          <a:xfrm>
            <a:off x="6126480" y="1097280"/>
            <a:ext cx="2560320" cy="2926080"/>
          </a:xfrm>
          <a:prstGeom prst="roundRect">
            <a:avLst>
              <a:gd name="adj" fmla="val 2857"/>
            </a:avLst>
          </a:prstGeom>
          <a:solidFill>
            <a:srgbClr val="EDE9FE"/>
          </a:solidFill>
          <a:ln/>
          <a:effectLst>
            <a:outerShdw sx="100000" sy="100000" kx="0" ky="0" algn="bl" rotWithShape="0" blurRad="50800" dist="12700" dir="16200000">
              <a:srgbClr val="000000">
                <a:alpha val="8000"/>
              </a:srgbClr>
            </a:outerShdw>
          </a:effectLst>
        </p:spPr>
      </p:sp>
      <p:sp>
        <p:nvSpPr>
          <p:cNvPr id="11" name="Text 9"/>
          <p:cNvSpPr/>
          <p:nvPr/>
        </p:nvSpPr>
        <p:spPr>
          <a:xfrm>
            <a:off x="6309360" y="1234440"/>
            <a:ext cx="2194560" cy="274320"/>
          </a:xfrm>
          <a:prstGeom prst="rect">
            <a:avLst/>
          </a:prstGeom>
          <a:noFill/>
          <a:ln/>
        </p:spPr>
        <p:txBody>
          <a:bodyPr wrap="square" lIns="0" tIns="0" rIns="0" bIns="0" rtlCol="0" anchor="ctr"/>
          <a:lstStyle/>
          <a:p>
            <a:pPr algn="l" indent="0" marL="0">
              <a:buNone/>
            </a:pPr>
            <a:r>
              <a:rPr lang="en-US" sz="1300" b="1" dirty="0">
                <a:solidFill>
                  <a:srgbClr val="6D28D9"/>
                </a:solidFill>
                <a:latin typeface="Calibri" pitchFamily="34" charset="0"/>
                <a:ea typeface="Calibri" pitchFamily="34" charset="-122"/>
                <a:cs typeface="Calibri" pitchFamily="34" charset="-120"/>
              </a:rPr>
              <a:t>GOVERNMENT</a:t>
            </a:r>
            <a:endParaRPr lang="en-US" sz="1300" dirty="0"/>
          </a:p>
        </p:txBody>
      </p:sp>
      <p:sp>
        <p:nvSpPr>
          <p:cNvPr id="12" name="Text 10"/>
          <p:cNvSpPr/>
          <p:nvPr/>
        </p:nvSpPr>
        <p:spPr>
          <a:xfrm>
            <a:off x="6309360" y="1600200"/>
            <a:ext cx="2194560" cy="219456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DPI governance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(Aadhaar, UPI, Account</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Aggregator, ONDC)</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Smart Cities</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Digital transformation</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programmes</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Policy analysis and</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regulatory drafting</a:t>
            </a:r>
            <a:endParaRPr lang="en-US" sz="1100" dirty="0"/>
          </a:p>
        </p:txBody>
      </p:sp>
      <p:sp>
        <p:nvSpPr>
          <p:cNvPr id="13" name="Text 11"/>
          <p:cNvSpPr/>
          <p:nvPr/>
        </p:nvSpPr>
        <p:spPr>
          <a:xfrm>
            <a:off x="457200" y="4297680"/>
            <a:ext cx="8229600" cy="3657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Slower career path, but sovereign-critical work with long-term institutional impact.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The Capability Ladder</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Build from the bottom up — each tier unlocks the next</a:t>
            </a:r>
            <a:endParaRPr lang="en-US" sz="1200" dirty="0"/>
          </a:p>
        </p:txBody>
      </p:sp>
      <p:sp>
        <p:nvSpPr>
          <p:cNvPr id="4" name="Shape 2"/>
          <p:cNvSpPr/>
          <p:nvPr/>
        </p:nvSpPr>
        <p:spPr>
          <a:xfrm>
            <a:off x="457200" y="1097280"/>
            <a:ext cx="8229600" cy="640080"/>
          </a:xfrm>
          <a:prstGeom prst="roundRect">
            <a:avLst>
              <a:gd name="adj" fmla="val 8571"/>
            </a:avLst>
          </a:prstGeom>
          <a:solidFill>
            <a:srgbClr val="DBEAFE"/>
          </a:solidFill>
          <a:ln w="15240">
            <a:solidFill>
              <a:srgbClr val="1E40AF"/>
            </a:solidFill>
            <a:prstDash val="solid"/>
          </a:ln>
        </p:spPr>
      </p:sp>
      <p:sp>
        <p:nvSpPr>
          <p:cNvPr id="5" name="Text 3"/>
          <p:cNvSpPr/>
          <p:nvPr/>
        </p:nvSpPr>
        <p:spPr>
          <a:xfrm>
            <a:off x="640080" y="1124712"/>
            <a:ext cx="274320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TIER 4: GOVERNANCE LEADERSHIP</a:t>
            </a:r>
            <a:endParaRPr lang="en-US" sz="1200" dirty="0"/>
          </a:p>
        </p:txBody>
      </p:sp>
      <p:sp>
        <p:nvSpPr>
          <p:cNvPr id="6" name="Text 4"/>
          <p:cNvSpPr/>
          <p:nvPr/>
        </p:nvSpPr>
        <p:spPr>
          <a:xfrm>
            <a:off x="640080" y="1399032"/>
            <a:ext cx="5943600" cy="27432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CPO  ·  AI Ethics Lead  ·  Regulatory Strategy  ·  Board Advisory</a:t>
            </a:r>
            <a:endParaRPr lang="en-US" sz="950" dirty="0"/>
          </a:p>
        </p:txBody>
      </p:sp>
      <p:sp>
        <p:nvSpPr>
          <p:cNvPr id="7" name="Text 5"/>
          <p:cNvSpPr/>
          <p:nvPr/>
        </p:nvSpPr>
        <p:spPr>
          <a:xfrm>
            <a:off x="6858000" y="1143000"/>
            <a:ext cx="1737360" cy="548640"/>
          </a:xfrm>
          <a:prstGeom prst="rect">
            <a:avLst/>
          </a:prstGeom>
          <a:noFill/>
          <a:ln/>
        </p:spPr>
        <p:txBody>
          <a:bodyPr wrap="square" lIns="0" tIns="0" rIns="0" bIns="0" rtlCol="0" anchor="ctr"/>
          <a:lstStyle/>
          <a:p>
            <a:pPr algn="r" indent="0" marL="0">
              <a:buNone/>
            </a:pPr>
            <a:r>
              <a:rPr lang="en-US" sz="900" i="1" dirty="0">
                <a:solidFill>
                  <a:srgbClr val="6B7280"/>
                </a:solidFill>
                <a:latin typeface="Calibri" pitchFamily="34" charset="0"/>
                <a:ea typeface="Calibri" pitchFamily="34" charset="-122"/>
                <a:cs typeface="Calibri" pitchFamily="34" charset="-120"/>
              </a:rPr>
              <a:t>Years 5+</a:t>
            </a:r>
            <a:endParaRPr lang="en-US" sz="900" dirty="0"/>
          </a:p>
        </p:txBody>
      </p:sp>
      <p:sp>
        <p:nvSpPr>
          <p:cNvPr id="8" name="Shape 6"/>
          <p:cNvSpPr/>
          <p:nvPr/>
        </p:nvSpPr>
        <p:spPr>
          <a:xfrm>
            <a:off x="457200" y="1828800"/>
            <a:ext cx="8229600" cy="640080"/>
          </a:xfrm>
          <a:prstGeom prst="roundRect">
            <a:avLst>
              <a:gd name="adj" fmla="val 8571"/>
            </a:avLst>
          </a:prstGeom>
          <a:solidFill>
            <a:srgbClr val="D1FAE5"/>
          </a:solidFill>
          <a:ln w="15240">
            <a:solidFill>
              <a:srgbClr val="047857"/>
            </a:solidFill>
            <a:prstDash val="solid"/>
          </a:ln>
        </p:spPr>
      </p:sp>
      <p:sp>
        <p:nvSpPr>
          <p:cNvPr id="9" name="Text 7"/>
          <p:cNvSpPr/>
          <p:nvPr/>
        </p:nvSpPr>
        <p:spPr>
          <a:xfrm>
            <a:off x="640080" y="1856232"/>
            <a:ext cx="274320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TIER 3: GOVERNANCE CRAFT</a:t>
            </a:r>
            <a:endParaRPr lang="en-US" sz="1200" dirty="0"/>
          </a:p>
        </p:txBody>
      </p:sp>
      <p:sp>
        <p:nvSpPr>
          <p:cNvPr id="10" name="Text 8"/>
          <p:cNvSpPr/>
          <p:nvPr/>
        </p:nvSpPr>
        <p:spPr>
          <a:xfrm>
            <a:off x="640080" y="2130552"/>
            <a:ext cx="5943600" cy="27432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DPIA design  ·  AI-use policy drafting  ·  Consent architecture  ·  Vendor risk  ·  Regulatory mapping  ·  Control frameworks</a:t>
            </a:r>
            <a:endParaRPr lang="en-US" sz="950" dirty="0"/>
          </a:p>
        </p:txBody>
      </p:sp>
      <p:sp>
        <p:nvSpPr>
          <p:cNvPr id="11" name="Text 9"/>
          <p:cNvSpPr/>
          <p:nvPr/>
        </p:nvSpPr>
        <p:spPr>
          <a:xfrm>
            <a:off x="6858000" y="1874520"/>
            <a:ext cx="1737360" cy="548640"/>
          </a:xfrm>
          <a:prstGeom prst="rect">
            <a:avLst/>
          </a:prstGeom>
          <a:noFill/>
          <a:ln/>
        </p:spPr>
        <p:txBody>
          <a:bodyPr wrap="square" lIns="0" tIns="0" rIns="0" bIns="0" rtlCol="0" anchor="ctr"/>
          <a:lstStyle/>
          <a:p>
            <a:pPr algn="r" indent="0" marL="0">
              <a:buNone/>
            </a:pPr>
            <a:r>
              <a:rPr lang="en-US" sz="900" i="1" dirty="0">
                <a:solidFill>
                  <a:srgbClr val="6B7280"/>
                </a:solidFill>
                <a:latin typeface="Calibri" pitchFamily="34" charset="0"/>
                <a:ea typeface="Calibri" pitchFamily="34" charset="-122"/>
                <a:cs typeface="Calibri" pitchFamily="34" charset="-120"/>
              </a:rPr>
              <a:t>Years 2–5 — comparative advantage zone</a:t>
            </a:r>
            <a:endParaRPr lang="en-US" sz="900" dirty="0"/>
          </a:p>
        </p:txBody>
      </p:sp>
      <p:sp>
        <p:nvSpPr>
          <p:cNvPr id="12" name="Shape 10"/>
          <p:cNvSpPr/>
          <p:nvPr/>
        </p:nvSpPr>
        <p:spPr>
          <a:xfrm>
            <a:off x="457200" y="2697480"/>
            <a:ext cx="8229600" cy="640080"/>
          </a:xfrm>
          <a:prstGeom prst="roundRect">
            <a:avLst>
              <a:gd name="adj" fmla="val 8571"/>
            </a:avLst>
          </a:prstGeom>
          <a:solidFill>
            <a:srgbClr val="FEF3C7"/>
          </a:solidFill>
          <a:ln w="15240">
            <a:solidFill>
              <a:srgbClr val="B45309"/>
            </a:solidFill>
            <a:prstDash val="solid"/>
          </a:ln>
        </p:spPr>
      </p:sp>
      <p:sp>
        <p:nvSpPr>
          <p:cNvPr id="13" name="Text 11"/>
          <p:cNvSpPr/>
          <p:nvPr/>
        </p:nvSpPr>
        <p:spPr>
          <a:xfrm>
            <a:off x="640080" y="2724912"/>
            <a:ext cx="274320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TIER 2: AI + DATA FLUENCY</a:t>
            </a:r>
            <a:endParaRPr lang="en-US" sz="1200" dirty="0"/>
          </a:p>
        </p:txBody>
      </p:sp>
      <p:sp>
        <p:nvSpPr>
          <p:cNvPr id="14" name="Text 12"/>
          <p:cNvSpPr/>
          <p:nvPr/>
        </p:nvSpPr>
        <p:spPr>
          <a:xfrm>
            <a:off x="640080" y="2999232"/>
            <a:ext cx="5943600" cy="27432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Prompt engineering for legal tasks  ·  AI output verification  ·  Hallucination detection  ·  Data literacy  ·  Basic Python/SQL (read, not write)</a:t>
            </a:r>
            <a:endParaRPr lang="en-US" sz="950" dirty="0"/>
          </a:p>
        </p:txBody>
      </p:sp>
      <p:sp>
        <p:nvSpPr>
          <p:cNvPr id="15" name="Text 13"/>
          <p:cNvSpPr/>
          <p:nvPr/>
        </p:nvSpPr>
        <p:spPr>
          <a:xfrm>
            <a:off x="6858000" y="2743200"/>
            <a:ext cx="1737360" cy="548640"/>
          </a:xfrm>
          <a:prstGeom prst="rect">
            <a:avLst/>
          </a:prstGeom>
          <a:noFill/>
          <a:ln/>
        </p:spPr>
        <p:txBody>
          <a:bodyPr wrap="square" lIns="0" tIns="0" rIns="0" bIns="0" rtlCol="0" anchor="ctr"/>
          <a:lstStyle/>
          <a:p>
            <a:pPr algn="r" indent="0" marL="0">
              <a:buNone/>
            </a:pPr>
            <a:r>
              <a:rPr lang="en-US" sz="900" i="1" dirty="0">
                <a:solidFill>
                  <a:srgbClr val="6B7280"/>
                </a:solidFill>
                <a:latin typeface="Calibri" pitchFamily="34" charset="0"/>
                <a:ea typeface="Calibri" pitchFamily="34" charset="-122"/>
                <a:cs typeface="Calibri" pitchFamily="34" charset="-120"/>
              </a:rPr>
              <a:t>Year 4–5 or first 6 months of employment</a:t>
            </a:r>
            <a:endParaRPr lang="en-US" sz="900" dirty="0"/>
          </a:p>
        </p:txBody>
      </p:sp>
      <p:sp>
        <p:nvSpPr>
          <p:cNvPr id="16" name="Shape 14"/>
          <p:cNvSpPr/>
          <p:nvPr/>
        </p:nvSpPr>
        <p:spPr>
          <a:xfrm>
            <a:off x="457200" y="3566160"/>
            <a:ext cx="8229600" cy="640080"/>
          </a:xfrm>
          <a:prstGeom prst="roundRect">
            <a:avLst>
              <a:gd name="adj" fmla="val 8571"/>
            </a:avLst>
          </a:prstGeom>
          <a:solidFill>
            <a:srgbClr val="F3F4F6"/>
          </a:solidFill>
          <a:ln w="15240">
            <a:solidFill>
              <a:srgbClr val="E5E7EB"/>
            </a:solidFill>
            <a:prstDash val="solid"/>
          </a:ln>
        </p:spPr>
      </p:sp>
      <p:sp>
        <p:nvSpPr>
          <p:cNvPr id="17" name="Text 15"/>
          <p:cNvSpPr/>
          <p:nvPr/>
        </p:nvSpPr>
        <p:spPr>
          <a:xfrm>
            <a:off x="640080" y="3593592"/>
            <a:ext cx="274320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TIER 1: LEGAL FOUNDATION</a:t>
            </a:r>
            <a:endParaRPr lang="en-US" sz="1200" dirty="0"/>
          </a:p>
        </p:txBody>
      </p:sp>
      <p:sp>
        <p:nvSpPr>
          <p:cNvPr id="18" name="Text 16"/>
          <p:cNvSpPr/>
          <p:nvPr/>
        </p:nvSpPr>
        <p:spPr>
          <a:xfrm>
            <a:off x="640080" y="3867912"/>
            <a:ext cx="5943600" cy="27432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Statutory interpretation  ·  Case analysis  ·  Legal research  ·  Legal writing  ·  Contract drafting  ·  Regulatory reading</a:t>
            </a:r>
            <a:endParaRPr lang="en-US" sz="950" dirty="0"/>
          </a:p>
        </p:txBody>
      </p:sp>
      <p:sp>
        <p:nvSpPr>
          <p:cNvPr id="19" name="Text 17"/>
          <p:cNvSpPr/>
          <p:nvPr/>
        </p:nvSpPr>
        <p:spPr>
          <a:xfrm>
            <a:off x="6858000" y="3611880"/>
            <a:ext cx="1737360" cy="548640"/>
          </a:xfrm>
          <a:prstGeom prst="rect">
            <a:avLst/>
          </a:prstGeom>
          <a:noFill/>
          <a:ln/>
        </p:spPr>
        <p:txBody>
          <a:bodyPr wrap="square" lIns="0" tIns="0" rIns="0" bIns="0" rtlCol="0" anchor="ctr"/>
          <a:lstStyle/>
          <a:p>
            <a:pPr algn="r" indent="0" marL="0">
              <a:buNone/>
            </a:pPr>
            <a:r>
              <a:rPr lang="en-US" sz="900" i="1" dirty="0">
                <a:solidFill>
                  <a:srgbClr val="6B7280"/>
                </a:solidFill>
                <a:latin typeface="Calibri" pitchFamily="34" charset="0"/>
                <a:ea typeface="Calibri" pitchFamily="34" charset="-122"/>
                <a:cs typeface="Calibri" pitchFamily="34" charset="-120"/>
              </a:rPr>
              <a:t>By graduation — becomes the verification layer AI cannot replace</a:t>
            </a:r>
            <a:endParaRPr lang="en-US" sz="900" dirty="0"/>
          </a:p>
        </p:txBody>
      </p:sp>
      <p:sp>
        <p:nvSpPr>
          <p:cNvPr id="20" name="Text 18"/>
          <p:cNvSpPr/>
          <p:nvPr/>
        </p:nvSpPr>
        <p:spPr>
          <a:xfrm>
            <a:off x="457200" y="4389120"/>
            <a:ext cx="8229600" cy="36576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AI replaces → AI amplifies → AI cannot do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The Translation That Gets You Hired</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From regulatory requirement to defensible evidence</a:t>
            </a:r>
            <a:endParaRPr lang="en-US" sz="1200" dirty="0"/>
          </a:p>
        </p:txBody>
      </p:sp>
      <p:sp>
        <p:nvSpPr>
          <p:cNvPr id="4" name="Shape 2"/>
          <p:cNvSpPr/>
          <p:nvPr/>
        </p:nvSpPr>
        <p:spPr>
          <a:xfrm>
            <a:off x="365760" y="1371600"/>
            <a:ext cx="1920240" cy="2011680"/>
          </a:xfrm>
          <a:prstGeom prst="roundRect">
            <a:avLst>
              <a:gd name="adj" fmla="val 2857"/>
            </a:avLst>
          </a:prstGeom>
          <a:solidFill>
            <a:srgbClr val="DBEAFE"/>
          </a:solidFill>
          <a:ln w="15240">
            <a:solidFill>
              <a:srgbClr val="1E40AF"/>
            </a:solidFill>
            <a:prstDash val="solid"/>
          </a:ln>
        </p:spPr>
      </p:sp>
      <p:sp>
        <p:nvSpPr>
          <p:cNvPr id="5" name="Text 3"/>
          <p:cNvSpPr/>
          <p:nvPr/>
        </p:nvSpPr>
        <p:spPr>
          <a:xfrm>
            <a:off x="411480" y="1508760"/>
            <a:ext cx="1828800" cy="5486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REGULATORY</a:t>
            </a:r>
            <a:endParaRPr lang="en-US" sz="1300" dirty="0"/>
          </a:p>
          <a:p>
            <a:pPr algn="ctr" indent="0" marL="0">
              <a:buNone/>
            </a:pPr>
            <a:r>
              <a:rPr lang="en-US" sz="1300" b="1" dirty="0">
                <a:solidFill>
                  <a:srgbClr val="1B2A4A"/>
                </a:solidFill>
                <a:latin typeface="Calibri" pitchFamily="34" charset="0"/>
                <a:ea typeface="Calibri" pitchFamily="34" charset="-122"/>
                <a:cs typeface="Calibri" pitchFamily="34" charset="-120"/>
              </a:rPr>
              <a:t>REQUIREMENT</a:t>
            </a:r>
            <a:endParaRPr lang="en-US" sz="1300" dirty="0"/>
          </a:p>
        </p:txBody>
      </p:sp>
      <p:sp>
        <p:nvSpPr>
          <p:cNvPr id="6" name="Shape 4"/>
          <p:cNvSpPr/>
          <p:nvPr/>
        </p:nvSpPr>
        <p:spPr>
          <a:xfrm>
            <a:off x="548640" y="2148840"/>
            <a:ext cx="1554480" cy="0"/>
          </a:xfrm>
          <a:prstGeom prst="line">
            <a:avLst/>
          </a:prstGeom>
          <a:noFill/>
          <a:ln w="10160">
            <a:solidFill>
              <a:srgbClr val="1E40AF"/>
            </a:solidFill>
            <a:prstDash val="solid"/>
          </a:ln>
        </p:spPr>
      </p:sp>
      <p:sp>
        <p:nvSpPr>
          <p:cNvPr id="7" name="Text 5"/>
          <p:cNvSpPr/>
          <p:nvPr/>
        </p:nvSpPr>
        <p:spPr>
          <a:xfrm>
            <a:off x="457200" y="2286000"/>
            <a:ext cx="1737360" cy="822960"/>
          </a:xfrm>
          <a:prstGeom prst="rect">
            <a:avLst/>
          </a:prstGeom>
          <a:noFill/>
          <a:ln/>
        </p:spPr>
        <p:txBody>
          <a:bodyPr wrap="square" lIns="0" tIns="0" rIns="0" bIns="0" rtlCol="0" anchor="t"/>
          <a:lstStyle/>
          <a:p>
            <a:pPr algn="ctr" indent="0" marL="0">
              <a:buNone/>
            </a:pPr>
            <a:r>
              <a:rPr lang="en-US" sz="1000" i="1" dirty="0">
                <a:solidFill>
                  <a:srgbClr val="374151"/>
                </a:solidFill>
                <a:latin typeface="Calibri" pitchFamily="34" charset="0"/>
                <a:ea typeface="Calibri" pitchFamily="34" charset="-122"/>
                <a:cs typeface="Calibri" pitchFamily="34" charset="-120"/>
              </a:rPr>
              <a:t>DPDP: obtain</a:t>
            </a:r>
            <a:endParaRPr lang="en-US" sz="1000" dirty="0"/>
          </a:p>
          <a:p>
            <a:pPr algn="ctr" indent="0" marL="0">
              <a:buNone/>
            </a:pPr>
            <a:r>
              <a:rPr lang="en-US" sz="1000" i="1" dirty="0">
                <a:solidFill>
                  <a:srgbClr val="374151"/>
                </a:solidFill>
                <a:latin typeface="Calibri" pitchFamily="34" charset="0"/>
                <a:ea typeface="Calibri" pitchFamily="34" charset="-122"/>
                <a:cs typeface="Calibri" pitchFamily="34" charset="-120"/>
              </a:rPr>
              <a:t>informed consent</a:t>
            </a:r>
            <a:endParaRPr lang="en-US" sz="1000" dirty="0"/>
          </a:p>
        </p:txBody>
      </p:sp>
      <p:sp>
        <p:nvSpPr>
          <p:cNvPr id="8" name="Shape 6"/>
          <p:cNvSpPr/>
          <p:nvPr/>
        </p:nvSpPr>
        <p:spPr>
          <a:xfrm>
            <a:off x="2331720" y="2331720"/>
            <a:ext cx="182880" cy="0"/>
          </a:xfrm>
          <a:prstGeom prst="line">
            <a:avLst/>
          </a:prstGeom>
          <a:noFill/>
          <a:ln w="19050">
            <a:solidFill>
              <a:srgbClr val="6B7280"/>
            </a:solidFill>
            <a:prstDash val="solid"/>
            <a:tailEnd type="triangle"/>
          </a:ln>
        </p:spPr>
      </p:sp>
      <p:sp>
        <p:nvSpPr>
          <p:cNvPr id="9" name="Shape 7"/>
          <p:cNvSpPr/>
          <p:nvPr/>
        </p:nvSpPr>
        <p:spPr>
          <a:xfrm>
            <a:off x="2560320" y="1371600"/>
            <a:ext cx="1920240" cy="2011680"/>
          </a:xfrm>
          <a:prstGeom prst="roundRect">
            <a:avLst>
              <a:gd name="adj" fmla="val 2857"/>
            </a:avLst>
          </a:prstGeom>
          <a:solidFill>
            <a:srgbClr val="D1FAE5"/>
          </a:solidFill>
          <a:ln w="15240">
            <a:solidFill>
              <a:srgbClr val="047857"/>
            </a:solidFill>
            <a:prstDash val="solid"/>
          </a:ln>
        </p:spPr>
      </p:sp>
      <p:sp>
        <p:nvSpPr>
          <p:cNvPr id="10" name="Text 8"/>
          <p:cNvSpPr/>
          <p:nvPr/>
        </p:nvSpPr>
        <p:spPr>
          <a:xfrm>
            <a:off x="2606040" y="1508760"/>
            <a:ext cx="1828800" cy="5486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LEGAL</a:t>
            </a:r>
            <a:endParaRPr lang="en-US" sz="1300" dirty="0"/>
          </a:p>
          <a:p>
            <a:pPr algn="ctr" indent="0" marL="0">
              <a:buNone/>
            </a:pPr>
            <a:r>
              <a:rPr lang="en-US" sz="1300" b="1" dirty="0">
                <a:solidFill>
                  <a:srgbClr val="1B2A4A"/>
                </a:solidFill>
                <a:latin typeface="Calibri" pitchFamily="34" charset="0"/>
                <a:ea typeface="Calibri" pitchFamily="34" charset="-122"/>
                <a:cs typeface="Calibri" pitchFamily="34" charset="-120"/>
              </a:rPr>
              <a:t>OBLIGATION</a:t>
            </a:r>
            <a:endParaRPr lang="en-US" sz="1300" dirty="0"/>
          </a:p>
        </p:txBody>
      </p:sp>
      <p:sp>
        <p:nvSpPr>
          <p:cNvPr id="11" name="Shape 9"/>
          <p:cNvSpPr/>
          <p:nvPr/>
        </p:nvSpPr>
        <p:spPr>
          <a:xfrm>
            <a:off x="2743200" y="2148840"/>
            <a:ext cx="1554480" cy="0"/>
          </a:xfrm>
          <a:prstGeom prst="line">
            <a:avLst/>
          </a:prstGeom>
          <a:noFill/>
          <a:ln w="10160">
            <a:solidFill>
              <a:srgbClr val="047857"/>
            </a:solidFill>
            <a:prstDash val="solid"/>
          </a:ln>
        </p:spPr>
      </p:sp>
      <p:sp>
        <p:nvSpPr>
          <p:cNvPr id="12" name="Text 10"/>
          <p:cNvSpPr/>
          <p:nvPr/>
        </p:nvSpPr>
        <p:spPr>
          <a:xfrm>
            <a:off x="2651760" y="2286000"/>
            <a:ext cx="1737360" cy="822960"/>
          </a:xfrm>
          <a:prstGeom prst="rect">
            <a:avLst/>
          </a:prstGeom>
          <a:noFill/>
          <a:ln/>
        </p:spPr>
        <p:txBody>
          <a:bodyPr wrap="square" lIns="0" tIns="0" rIns="0" bIns="0" rtlCol="0" anchor="t"/>
          <a:lstStyle/>
          <a:p>
            <a:pPr algn="ctr" indent="0" marL="0">
              <a:buNone/>
            </a:pPr>
            <a:r>
              <a:rPr lang="en-US" sz="1000" i="1" dirty="0">
                <a:solidFill>
                  <a:srgbClr val="374151"/>
                </a:solidFill>
                <a:latin typeface="Calibri" pitchFamily="34" charset="0"/>
                <a:ea typeface="Calibri" pitchFamily="34" charset="-122"/>
                <a:cs typeface="Calibri" pitchFamily="34" charset="-120"/>
              </a:rPr>
              <a:t>Consent must be</a:t>
            </a:r>
            <a:endParaRPr lang="en-US" sz="1000" dirty="0"/>
          </a:p>
          <a:p>
            <a:pPr algn="ctr" indent="0" marL="0">
              <a:buNone/>
            </a:pPr>
            <a:r>
              <a:rPr lang="en-US" sz="1000" i="1" dirty="0">
                <a:solidFill>
                  <a:srgbClr val="374151"/>
                </a:solidFill>
                <a:latin typeface="Calibri" pitchFamily="34" charset="0"/>
                <a:ea typeface="Calibri" pitchFamily="34" charset="-122"/>
                <a:cs typeface="Calibri" pitchFamily="34" charset="-120"/>
              </a:rPr>
              <a:t>granular, revocable</a:t>
            </a:r>
            <a:endParaRPr lang="en-US" sz="1000" dirty="0"/>
          </a:p>
        </p:txBody>
      </p:sp>
      <p:sp>
        <p:nvSpPr>
          <p:cNvPr id="13" name="Shape 11"/>
          <p:cNvSpPr/>
          <p:nvPr/>
        </p:nvSpPr>
        <p:spPr>
          <a:xfrm>
            <a:off x="4526280" y="2331720"/>
            <a:ext cx="182880" cy="0"/>
          </a:xfrm>
          <a:prstGeom prst="line">
            <a:avLst/>
          </a:prstGeom>
          <a:noFill/>
          <a:ln w="19050">
            <a:solidFill>
              <a:srgbClr val="6B7280"/>
            </a:solidFill>
            <a:prstDash val="solid"/>
            <a:tailEnd type="triangle"/>
          </a:ln>
        </p:spPr>
      </p:sp>
      <p:sp>
        <p:nvSpPr>
          <p:cNvPr id="14" name="Shape 12"/>
          <p:cNvSpPr/>
          <p:nvPr/>
        </p:nvSpPr>
        <p:spPr>
          <a:xfrm>
            <a:off x="4754880" y="1371600"/>
            <a:ext cx="1920240" cy="2011680"/>
          </a:xfrm>
          <a:prstGeom prst="roundRect">
            <a:avLst>
              <a:gd name="adj" fmla="val 2857"/>
            </a:avLst>
          </a:prstGeom>
          <a:solidFill>
            <a:srgbClr val="FEF3C7"/>
          </a:solidFill>
          <a:ln w="15240">
            <a:solidFill>
              <a:srgbClr val="B45309"/>
            </a:solidFill>
            <a:prstDash val="solid"/>
          </a:ln>
        </p:spPr>
      </p:sp>
      <p:sp>
        <p:nvSpPr>
          <p:cNvPr id="15" name="Text 13"/>
          <p:cNvSpPr/>
          <p:nvPr/>
        </p:nvSpPr>
        <p:spPr>
          <a:xfrm>
            <a:off x="4800600" y="1508760"/>
            <a:ext cx="1828800" cy="5486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GOVERNANCE</a:t>
            </a:r>
            <a:endParaRPr lang="en-US" sz="1300" dirty="0"/>
          </a:p>
          <a:p>
            <a:pPr algn="ctr" indent="0" marL="0">
              <a:buNone/>
            </a:pPr>
            <a:r>
              <a:rPr lang="en-US" sz="1300" b="1" dirty="0">
                <a:solidFill>
                  <a:srgbClr val="1B2A4A"/>
                </a:solidFill>
                <a:latin typeface="Calibri" pitchFamily="34" charset="0"/>
                <a:ea typeface="Calibri" pitchFamily="34" charset="-122"/>
                <a:cs typeface="Calibri" pitchFamily="34" charset="-120"/>
              </a:rPr>
              <a:t>CONTROL</a:t>
            </a:r>
            <a:endParaRPr lang="en-US" sz="1300" dirty="0"/>
          </a:p>
        </p:txBody>
      </p:sp>
      <p:sp>
        <p:nvSpPr>
          <p:cNvPr id="16" name="Shape 14"/>
          <p:cNvSpPr/>
          <p:nvPr/>
        </p:nvSpPr>
        <p:spPr>
          <a:xfrm>
            <a:off x="4937760" y="2148840"/>
            <a:ext cx="1554480" cy="0"/>
          </a:xfrm>
          <a:prstGeom prst="line">
            <a:avLst/>
          </a:prstGeom>
          <a:noFill/>
          <a:ln w="10160">
            <a:solidFill>
              <a:srgbClr val="B45309"/>
            </a:solidFill>
            <a:prstDash val="solid"/>
          </a:ln>
        </p:spPr>
      </p:sp>
      <p:sp>
        <p:nvSpPr>
          <p:cNvPr id="17" name="Text 15"/>
          <p:cNvSpPr/>
          <p:nvPr/>
        </p:nvSpPr>
        <p:spPr>
          <a:xfrm>
            <a:off x="4846320" y="2286000"/>
            <a:ext cx="1737360" cy="822960"/>
          </a:xfrm>
          <a:prstGeom prst="rect">
            <a:avLst/>
          </a:prstGeom>
          <a:noFill/>
          <a:ln/>
        </p:spPr>
        <p:txBody>
          <a:bodyPr wrap="square" lIns="0" tIns="0" rIns="0" bIns="0" rtlCol="0" anchor="t"/>
          <a:lstStyle/>
          <a:p>
            <a:pPr algn="ctr" indent="0" marL="0">
              <a:buNone/>
            </a:pPr>
            <a:r>
              <a:rPr lang="en-US" sz="1000" i="1" dirty="0">
                <a:solidFill>
                  <a:srgbClr val="374151"/>
                </a:solidFill>
                <a:latin typeface="Calibri" pitchFamily="34" charset="0"/>
                <a:ea typeface="Calibri" pitchFamily="34" charset="-122"/>
                <a:cs typeface="Calibri" pitchFamily="34" charset="-120"/>
              </a:rPr>
              <a:t>Consent management</a:t>
            </a:r>
            <a:endParaRPr lang="en-US" sz="1000" dirty="0"/>
          </a:p>
          <a:p>
            <a:pPr algn="ctr" indent="0" marL="0">
              <a:buNone/>
            </a:pPr>
            <a:r>
              <a:rPr lang="en-US" sz="1000" i="1" dirty="0">
                <a:solidFill>
                  <a:srgbClr val="374151"/>
                </a:solidFill>
                <a:latin typeface="Calibri" pitchFamily="34" charset="0"/>
                <a:ea typeface="Calibri" pitchFamily="34" charset="-122"/>
                <a:cs typeface="Calibri" pitchFamily="34" charset="-120"/>
              </a:rPr>
              <a:t>platform + audit log</a:t>
            </a:r>
            <a:endParaRPr lang="en-US" sz="1000" dirty="0"/>
          </a:p>
        </p:txBody>
      </p:sp>
      <p:sp>
        <p:nvSpPr>
          <p:cNvPr id="18" name="Shape 16"/>
          <p:cNvSpPr/>
          <p:nvPr/>
        </p:nvSpPr>
        <p:spPr>
          <a:xfrm>
            <a:off x="6720840" y="2331720"/>
            <a:ext cx="182880" cy="0"/>
          </a:xfrm>
          <a:prstGeom prst="line">
            <a:avLst/>
          </a:prstGeom>
          <a:noFill/>
          <a:ln w="19050">
            <a:solidFill>
              <a:srgbClr val="6B7280"/>
            </a:solidFill>
            <a:prstDash val="solid"/>
            <a:tailEnd type="triangle"/>
          </a:ln>
        </p:spPr>
      </p:sp>
      <p:sp>
        <p:nvSpPr>
          <p:cNvPr id="19" name="Shape 17"/>
          <p:cNvSpPr/>
          <p:nvPr/>
        </p:nvSpPr>
        <p:spPr>
          <a:xfrm>
            <a:off x="6949440" y="1371600"/>
            <a:ext cx="1920240" cy="2011680"/>
          </a:xfrm>
          <a:prstGeom prst="roundRect">
            <a:avLst>
              <a:gd name="adj" fmla="val 2857"/>
            </a:avLst>
          </a:prstGeom>
          <a:solidFill>
            <a:srgbClr val="EDE9FE"/>
          </a:solidFill>
          <a:ln w="15240">
            <a:solidFill>
              <a:srgbClr val="6D28D9"/>
            </a:solidFill>
            <a:prstDash val="solid"/>
          </a:ln>
        </p:spPr>
      </p:sp>
      <p:sp>
        <p:nvSpPr>
          <p:cNvPr id="20" name="Text 18"/>
          <p:cNvSpPr/>
          <p:nvPr/>
        </p:nvSpPr>
        <p:spPr>
          <a:xfrm>
            <a:off x="6995160" y="1508760"/>
            <a:ext cx="1828800" cy="5486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AUDITABLE</a:t>
            </a:r>
            <a:endParaRPr lang="en-US" sz="1300" dirty="0"/>
          </a:p>
          <a:p>
            <a:pPr algn="ctr" indent="0" marL="0">
              <a:buNone/>
            </a:pPr>
            <a:r>
              <a:rPr lang="en-US" sz="1300" b="1" dirty="0">
                <a:solidFill>
                  <a:srgbClr val="1B2A4A"/>
                </a:solidFill>
                <a:latin typeface="Calibri" pitchFamily="34" charset="0"/>
                <a:ea typeface="Calibri" pitchFamily="34" charset="-122"/>
                <a:cs typeface="Calibri" pitchFamily="34" charset="-120"/>
              </a:rPr>
              <a:t>EVIDENCE</a:t>
            </a:r>
            <a:endParaRPr lang="en-US" sz="1300" dirty="0"/>
          </a:p>
        </p:txBody>
      </p:sp>
      <p:sp>
        <p:nvSpPr>
          <p:cNvPr id="21" name="Shape 19"/>
          <p:cNvSpPr/>
          <p:nvPr/>
        </p:nvSpPr>
        <p:spPr>
          <a:xfrm>
            <a:off x="7132320" y="2148840"/>
            <a:ext cx="1554480" cy="0"/>
          </a:xfrm>
          <a:prstGeom prst="line">
            <a:avLst/>
          </a:prstGeom>
          <a:noFill/>
          <a:ln w="10160">
            <a:solidFill>
              <a:srgbClr val="6D28D9"/>
            </a:solidFill>
            <a:prstDash val="solid"/>
          </a:ln>
        </p:spPr>
      </p:sp>
      <p:sp>
        <p:nvSpPr>
          <p:cNvPr id="22" name="Text 20"/>
          <p:cNvSpPr/>
          <p:nvPr/>
        </p:nvSpPr>
        <p:spPr>
          <a:xfrm>
            <a:off x="7040880" y="2286000"/>
            <a:ext cx="1737360" cy="822960"/>
          </a:xfrm>
          <a:prstGeom prst="rect">
            <a:avLst/>
          </a:prstGeom>
          <a:noFill/>
          <a:ln/>
        </p:spPr>
        <p:txBody>
          <a:bodyPr wrap="square" lIns="0" tIns="0" rIns="0" bIns="0" rtlCol="0" anchor="t"/>
          <a:lstStyle/>
          <a:p>
            <a:pPr algn="ctr" indent="0" marL="0">
              <a:buNone/>
            </a:pPr>
            <a:r>
              <a:rPr lang="en-US" sz="1000" i="1" dirty="0">
                <a:solidFill>
                  <a:srgbClr val="374151"/>
                </a:solidFill>
                <a:latin typeface="Calibri" pitchFamily="34" charset="0"/>
                <a:ea typeface="Calibri" pitchFamily="34" charset="-122"/>
                <a:cs typeface="Calibri" pitchFamily="34" charset="-120"/>
              </a:rPr>
              <a:t>Timestamped record</a:t>
            </a:r>
            <a:endParaRPr lang="en-US" sz="1000" dirty="0"/>
          </a:p>
          <a:p>
            <a:pPr algn="ctr" indent="0" marL="0">
              <a:buNone/>
            </a:pPr>
            <a:r>
              <a:rPr lang="en-US" sz="1000" i="1" dirty="0">
                <a:solidFill>
                  <a:srgbClr val="374151"/>
                </a:solidFill>
                <a:latin typeface="Calibri" pitchFamily="34" charset="0"/>
                <a:ea typeface="Calibri" pitchFamily="34" charset="-122"/>
                <a:cs typeface="Calibri" pitchFamily="34" charset="-120"/>
              </a:rPr>
              <a:t>of consent + revocation</a:t>
            </a:r>
            <a:endParaRPr lang="en-US" sz="1000" dirty="0"/>
          </a:p>
        </p:txBody>
      </p:sp>
      <p:sp>
        <p:nvSpPr>
          <p:cNvPr id="23" name="Shape 21"/>
          <p:cNvSpPr/>
          <p:nvPr/>
        </p:nvSpPr>
        <p:spPr>
          <a:xfrm>
            <a:off x="365760" y="3749040"/>
            <a:ext cx="8412480" cy="731520"/>
          </a:xfrm>
          <a:prstGeom prst="roundRect">
            <a:avLst>
              <a:gd name="adj" fmla="val 10000"/>
            </a:avLst>
          </a:prstGeom>
          <a:solidFill>
            <a:srgbClr val="F3F4F6"/>
          </a:solidFill>
          <a:ln/>
          <a:effectLst>
            <a:outerShdw sx="100000" sy="100000" kx="0" ky="0" algn="bl" rotWithShape="0" blurRad="50800" dist="12700" dir="16200000">
              <a:srgbClr val="000000">
                <a:alpha val="8000"/>
              </a:srgbClr>
            </a:outerShdw>
          </a:effectLst>
        </p:spPr>
      </p:sp>
      <p:sp>
        <p:nvSpPr>
          <p:cNvPr id="24" name="Text 22"/>
          <p:cNvSpPr/>
          <p:nvPr/>
        </p:nvSpPr>
        <p:spPr>
          <a:xfrm>
            <a:off x="548640" y="3840480"/>
            <a:ext cx="8046720" cy="2286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Legal education gives graduates a comparative advantage in interpreting authority, obligation, liability and evidence.</a:t>
            </a:r>
            <a:endParaRPr lang="en-US" sz="1200" dirty="0"/>
          </a:p>
        </p:txBody>
      </p:sp>
      <p:sp>
        <p:nvSpPr>
          <p:cNvPr id="25" name="Text 23"/>
          <p:cNvSpPr/>
          <p:nvPr/>
        </p:nvSpPr>
        <p:spPr>
          <a:xfrm>
            <a:off x="548640" y="4114800"/>
            <a:ext cx="8046720" cy="228600"/>
          </a:xfrm>
          <a:prstGeom prst="rect">
            <a:avLst/>
          </a:prstGeom>
          <a:noFill/>
          <a:ln/>
        </p:spPr>
        <p:txBody>
          <a:bodyPr wrap="square" lIns="0" tIns="0" rIns="0" bIns="0" rtlCol="0" anchor="ctr"/>
          <a:lstStyle/>
          <a:p>
            <a:pPr algn="ctr" indent="0" marL="0">
              <a:buNone/>
            </a:pPr>
            <a:r>
              <a:rPr lang="en-US" sz="1100" dirty="0">
                <a:solidFill>
                  <a:srgbClr val="374151"/>
                </a:solidFill>
                <a:latin typeface="Calibri" pitchFamily="34" charset="0"/>
                <a:ea typeface="Calibri" pitchFamily="34" charset="-122"/>
                <a:cs typeface="Calibri" pitchFamily="34" charset="-120"/>
              </a:rPr>
              <a:t>That advantage becomes commercially valuable when combined with technological and organisational understanding.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Five Governance Questions Every AI System Must Answer</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Each question is a governance function. Each function is a job.</a:t>
            </a:r>
            <a:endParaRPr lang="en-US" sz="1200" dirty="0"/>
          </a:p>
        </p:txBody>
      </p:sp>
      <p:sp>
        <p:nvSpPr>
          <p:cNvPr id="4" name="Shape 2"/>
          <p:cNvSpPr/>
          <p:nvPr/>
        </p:nvSpPr>
        <p:spPr>
          <a:xfrm>
            <a:off x="274320" y="1188720"/>
            <a:ext cx="1600200" cy="2560320"/>
          </a:xfrm>
          <a:prstGeom prst="roundRect">
            <a:avLst>
              <a:gd name="adj" fmla="val 3429"/>
            </a:avLst>
          </a:prstGeom>
          <a:solidFill>
            <a:srgbClr val="DBEAFE"/>
          </a:solidFill>
          <a:ln w="15240">
            <a:solidFill>
              <a:srgbClr val="1E40AF"/>
            </a:solidFill>
            <a:prstDash val="solid"/>
          </a:ln>
        </p:spPr>
      </p:sp>
      <p:sp>
        <p:nvSpPr>
          <p:cNvPr id="5" name="Text 3"/>
          <p:cNvSpPr/>
          <p:nvPr/>
        </p:nvSpPr>
        <p:spPr>
          <a:xfrm>
            <a:off x="320040" y="1280160"/>
            <a:ext cx="1508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PURPOSE</a:t>
            </a:r>
            <a:endParaRPr lang="en-US" sz="1400" dirty="0"/>
          </a:p>
        </p:txBody>
      </p:sp>
      <p:sp>
        <p:nvSpPr>
          <p:cNvPr id="6" name="Text 4"/>
          <p:cNvSpPr/>
          <p:nvPr/>
        </p:nvSpPr>
        <p:spPr>
          <a:xfrm>
            <a:off x="320040" y="1737360"/>
            <a:ext cx="1508760" cy="73152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Why does this AI</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system exist?</a:t>
            </a:r>
            <a:endParaRPr lang="en-US" sz="1000" dirty="0"/>
          </a:p>
        </p:txBody>
      </p:sp>
      <p:sp>
        <p:nvSpPr>
          <p:cNvPr id="7" name="Shape 5"/>
          <p:cNvSpPr/>
          <p:nvPr/>
        </p:nvSpPr>
        <p:spPr>
          <a:xfrm>
            <a:off x="457200" y="2560320"/>
            <a:ext cx="1234440" cy="0"/>
          </a:xfrm>
          <a:prstGeom prst="line">
            <a:avLst/>
          </a:prstGeom>
          <a:noFill/>
          <a:ln w="7620">
            <a:solidFill>
              <a:srgbClr val="1E40AF"/>
            </a:solidFill>
            <a:prstDash val="solid"/>
          </a:ln>
        </p:spPr>
      </p:sp>
      <p:sp>
        <p:nvSpPr>
          <p:cNvPr id="8" name="Text 6"/>
          <p:cNvSpPr/>
          <p:nvPr/>
        </p:nvSpPr>
        <p:spPr>
          <a:xfrm>
            <a:off x="320040" y="2651760"/>
            <a:ext cx="1508760" cy="548640"/>
          </a:xfrm>
          <a:prstGeom prst="rect">
            <a:avLst/>
          </a:prstGeom>
          <a:noFill/>
          <a:ln/>
        </p:spPr>
        <p:txBody>
          <a:bodyPr wrap="square" lIns="0" tIns="0" rIns="0" bIns="0" rtlCol="0" anchor="t"/>
          <a:lstStyle/>
          <a:p>
            <a:pPr algn="ctr" indent="0" marL="0">
              <a:buNone/>
            </a:pPr>
            <a:r>
              <a:rPr lang="en-US" sz="1000" b="1" dirty="0">
                <a:solidFill>
                  <a:srgbClr val="1E40AF"/>
                </a:solidFill>
                <a:latin typeface="Calibri" pitchFamily="34" charset="0"/>
                <a:ea typeface="Calibri" pitchFamily="34" charset="-122"/>
                <a:cs typeface="Calibri" pitchFamily="34" charset="-120"/>
              </a:rPr>
              <a:t>AI-use policy</a:t>
            </a:r>
            <a:endParaRPr lang="en-US" sz="1000" dirty="0"/>
          </a:p>
          <a:p>
            <a:pPr algn="ctr" indent="0" marL="0">
              <a:buNone/>
            </a:pPr>
            <a:r>
              <a:rPr lang="en-US" sz="1000" b="1" dirty="0">
                <a:solidFill>
                  <a:srgbClr val="1E40AF"/>
                </a:solidFill>
                <a:latin typeface="Calibri" pitchFamily="34" charset="0"/>
                <a:ea typeface="Calibri" pitchFamily="34" charset="-122"/>
                <a:cs typeface="Calibri" pitchFamily="34" charset="-120"/>
              </a:rPr>
              <a:t>design</a:t>
            </a:r>
            <a:endParaRPr lang="en-US" sz="1000" dirty="0"/>
          </a:p>
        </p:txBody>
      </p:sp>
      <p:sp>
        <p:nvSpPr>
          <p:cNvPr id="9" name="Shape 7"/>
          <p:cNvSpPr/>
          <p:nvPr/>
        </p:nvSpPr>
        <p:spPr>
          <a:xfrm>
            <a:off x="2029968" y="1188720"/>
            <a:ext cx="1600200" cy="2560320"/>
          </a:xfrm>
          <a:prstGeom prst="roundRect">
            <a:avLst>
              <a:gd name="adj" fmla="val 3429"/>
            </a:avLst>
          </a:prstGeom>
          <a:solidFill>
            <a:srgbClr val="D1FAE5"/>
          </a:solidFill>
          <a:ln w="15240">
            <a:solidFill>
              <a:srgbClr val="047857"/>
            </a:solidFill>
            <a:prstDash val="solid"/>
          </a:ln>
        </p:spPr>
      </p:sp>
      <p:sp>
        <p:nvSpPr>
          <p:cNvPr id="10" name="Text 8"/>
          <p:cNvSpPr/>
          <p:nvPr/>
        </p:nvSpPr>
        <p:spPr>
          <a:xfrm>
            <a:off x="2075688" y="1280160"/>
            <a:ext cx="1508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PEOPLE</a:t>
            </a:r>
            <a:endParaRPr lang="en-US" sz="1400" dirty="0"/>
          </a:p>
        </p:txBody>
      </p:sp>
      <p:sp>
        <p:nvSpPr>
          <p:cNvPr id="11" name="Text 9"/>
          <p:cNvSpPr/>
          <p:nvPr/>
        </p:nvSpPr>
        <p:spPr>
          <a:xfrm>
            <a:off x="2075688" y="1737360"/>
            <a:ext cx="1508760" cy="73152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Who is accountable</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when it fails?</a:t>
            </a:r>
            <a:endParaRPr lang="en-US" sz="1000" dirty="0"/>
          </a:p>
        </p:txBody>
      </p:sp>
      <p:sp>
        <p:nvSpPr>
          <p:cNvPr id="12" name="Shape 10"/>
          <p:cNvSpPr/>
          <p:nvPr/>
        </p:nvSpPr>
        <p:spPr>
          <a:xfrm>
            <a:off x="2212848" y="2560320"/>
            <a:ext cx="1234440" cy="0"/>
          </a:xfrm>
          <a:prstGeom prst="line">
            <a:avLst/>
          </a:prstGeom>
          <a:noFill/>
          <a:ln w="7620">
            <a:solidFill>
              <a:srgbClr val="047857"/>
            </a:solidFill>
            <a:prstDash val="solid"/>
          </a:ln>
        </p:spPr>
      </p:sp>
      <p:sp>
        <p:nvSpPr>
          <p:cNvPr id="13" name="Text 11"/>
          <p:cNvSpPr/>
          <p:nvPr/>
        </p:nvSpPr>
        <p:spPr>
          <a:xfrm>
            <a:off x="2075688" y="2651760"/>
            <a:ext cx="1508760" cy="548640"/>
          </a:xfrm>
          <a:prstGeom prst="rect">
            <a:avLst/>
          </a:prstGeom>
          <a:noFill/>
          <a:ln/>
        </p:spPr>
        <p:txBody>
          <a:bodyPr wrap="square" lIns="0" tIns="0" rIns="0" bIns="0" rtlCol="0" anchor="t"/>
          <a:lstStyle/>
          <a:p>
            <a:pPr algn="ctr" indent="0" marL="0">
              <a:buNone/>
            </a:pPr>
            <a:r>
              <a:rPr lang="en-US" sz="1000" b="1" dirty="0">
                <a:solidFill>
                  <a:srgbClr val="1E40AF"/>
                </a:solidFill>
                <a:latin typeface="Calibri" pitchFamily="34" charset="0"/>
                <a:ea typeface="Calibri" pitchFamily="34" charset="-122"/>
                <a:cs typeface="Calibri" pitchFamily="34" charset="-120"/>
              </a:rPr>
              <a:t>Accountability</a:t>
            </a:r>
            <a:endParaRPr lang="en-US" sz="1000" dirty="0"/>
          </a:p>
          <a:p>
            <a:pPr algn="ctr" indent="0" marL="0">
              <a:buNone/>
            </a:pPr>
            <a:r>
              <a:rPr lang="en-US" sz="1000" b="1" dirty="0">
                <a:solidFill>
                  <a:srgbClr val="1E40AF"/>
                </a:solidFill>
                <a:latin typeface="Calibri" pitchFamily="34" charset="0"/>
                <a:ea typeface="Calibri" pitchFamily="34" charset="-122"/>
                <a:cs typeface="Calibri" pitchFamily="34" charset="-120"/>
              </a:rPr>
              <a:t>mapping</a:t>
            </a:r>
            <a:endParaRPr lang="en-US" sz="1000" dirty="0"/>
          </a:p>
        </p:txBody>
      </p:sp>
      <p:sp>
        <p:nvSpPr>
          <p:cNvPr id="14" name="Shape 12"/>
          <p:cNvSpPr/>
          <p:nvPr/>
        </p:nvSpPr>
        <p:spPr>
          <a:xfrm>
            <a:off x="3785616" y="1188720"/>
            <a:ext cx="1600200" cy="2560320"/>
          </a:xfrm>
          <a:prstGeom prst="roundRect">
            <a:avLst>
              <a:gd name="adj" fmla="val 3429"/>
            </a:avLst>
          </a:prstGeom>
          <a:solidFill>
            <a:srgbClr val="FEF3C7"/>
          </a:solidFill>
          <a:ln w="15240">
            <a:solidFill>
              <a:srgbClr val="B45309"/>
            </a:solidFill>
            <a:prstDash val="solid"/>
          </a:ln>
        </p:spPr>
      </p:sp>
      <p:sp>
        <p:nvSpPr>
          <p:cNvPr id="15" name="Text 13"/>
          <p:cNvSpPr/>
          <p:nvPr/>
        </p:nvSpPr>
        <p:spPr>
          <a:xfrm>
            <a:off x="3831336" y="1280160"/>
            <a:ext cx="1508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PROOF</a:t>
            </a:r>
            <a:endParaRPr lang="en-US" sz="1400" dirty="0"/>
          </a:p>
        </p:txBody>
      </p:sp>
      <p:sp>
        <p:nvSpPr>
          <p:cNvPr id="16" name="Text 14"/>
          <p:cNvSpPr/>
          <p:nvPr/>
        </p:nvSpPr>
        <p:spPr>
          <a:xfrm>
            <a:off x="3831336" y="1737360"/>
            <a:ext cx="1508760" cy="73152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Can you show</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evidence to a</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regulator?</a:t>
            </a:r>
            <a:endParaRPr lang="en-US" sz="1000" dirty="0"/>
          </a:p>
        </p:txBody>
      </p:sp>
      <p:sp>
        <p:nvSpPr>
          <p:cNvPr id="17" name="Shape 15"/>
          <p:cNvSpPr/>
          <p:nvPr/>
        </p:nvSpPr>
        <p:spPr>
          <a:xfrm>
            <a:off x="3968496" y="2560320"/>
            <a:ext cx="1234440" cy="0"/>
          </a:xfrm>
          <a:prstGeom prst="line">
            <a:avLst/>
          </a:prstGeom>
          <a:noFill/>
          <a:ln w="7620">
            <a:solidFill>
              <a:srgbClr val="B45309"/>
            </a:solidFill>
            <a:prstDash val="solid"/>
          </a:ln>
        </p:spPr>
      </p:sp>
      <p:sp>
        <p:nvSpPr>
          <p:cNvPr id="18" name="Text 16"/>
          <p:cNvSpPr/>
          <p:nvPr/>
        </p:nvSpPr>
        <p:spPr>
          <a:xfrm>
            <a:off x="3831336" y="2651760"/>
            <a:ext cx="1508760" cy="548640"/>
          </a:xfrm>
          <a:prstGeom prst="rect">
            <a:avLst/>
          </a:prstGeom>
          <a:noFill/>
          <a:ln/>
        </p:spPr>
        <p:txBody>
          <a:bodyPr wrap="square" lIns="0" tIns="0" rIns="0" bIns="0" rtlCol="0" anchor="t"/>
          <a:lstStyle/>
          <a:p>
            <a:pPr algn="ctr" indent="0" marL="0">
              <a:buNone/>
            </a:pPr>
            <a:r>
              <a:rPr lang="en-US" sz="1000" b="1" dirty="0">
                <a:solidFill>
                  <a:srgbClr val="1E40AF"/>
                </a:solidFill>
                <a:latin typeface="Calibri" pitchFamily="34" charset="0"/>
                <a:ea typeface="Calibri" pitchFamily="34" charset="-122"/>
                <a:cs typeface="Calibri" pitchFamily="34" charset="-120"/>
              </a:rPr>
              <a:t>DPIA + audit</a:t>
            </a:r>
            <a:endParaRPr lang="en-US" sz="1000" dirty="0"/>
          </a:p>
          <a:p>
            <a:pPr algn="ctr" indent="0" marL="0">
              <a:buNone/>
            </a:pPr>
            <a:r>
              <a:rPr lang="en-US" sz="1000" b="1" dirty="0">
                <a:solidFill>
                  <a:srgbClr val="1E40AF"/>
                </a:solidFill>
                <a:latin typeface="Calibri" pitchFamily="34" charset="0"/>
                <a:ea typeface="Calibri" pitchFamily="34" charset="-122"/>
                <a:cs typeface="Calibri" pitchFamily="34" charset="-120"/>
              </a:rPr>
              <a:t>trail design</a:t>
            </a:r>
            <a:endParaRPr lang="en-US" sz="1000" dirty="0"/>
          </a:p>
        </p:txBody>
      </p:sp>
      <p:sp>
        <p:nvSpPr>
          <p:cNvPr id="19" name="Shape 17"/>
          <p:cNvSpPr/>
          <p:nvPr/>
        </p:nvSpPr>
        <p:spPr>
          <a:xfrm>
            <a:off x="5541264" y="1188720"/>
            <a:ext cx="1600200" cy="2560320"/>
          </a:xfrm>
          <a:prstGeom prst="roundRect">
            <a:avLst>
              <a:gd name="adj" fmla="val 3429"/>
            </a:avLst>
          </a:prstGeom>
          <a:solidFill>
            <a:srgbClr val="FEE2E2"/>
          </a:solidFill>
          <a:ln w="15240">
            <a:solidFill>
              <a:srgbClr val="B91C1C"/>
            </a:solidFill>
            <a:prstDash val="solid"/>
          </a:ln>
        </p:spPr>
      </p:sp>
      <p:sp>
        <p:nvSpPr>
          <p:cNvPr id="20" name="Text 18"/>
          <p:cNvSpPr/>
          <p:nvPr/>
        </p:nvSpPr>
        <p:spPr>
          <a:xfrm>
            <a:off x="5586984" y="1280160"/>
            <a:ext cx="1508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PROCESS</a:t>
            </a:r>
            <a:endParaRPr lang="en-US" sz="1400" dirty="0"/>
          </a:p>
        </p:txBody>
      </p:sp>
      <p:sp>
        <p:nvSpPr>
          <p:cNvPr id="21" name="Text 19"/>
          <p:cNvSpPr/>
          <p:nvPr/>
        </p:nvSpPr>
        <p:spPr>
          <a:xfrm>
            <a:off x="5586984" y="1737360"/>
            <a:ext cx="1508760" cy="73152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What happens</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when it goes</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wrong?</a:t>
            </a:r>
            <a:endParaRPr lang="en-US" sz="1000" dirty="0"/>
          </a:p>
        </p:txBody>
      </p:sp>
      <p:sp>
        <p:nvSpPr>
          <p:cNvPr id="22" name="Shape 20"/>
          <p:cNvSpPr/>
          <p:nvPr/>
        </p:nvSpPr>
        <p:spPr>
          <a:xfrm>
            <a:off x="5724144" y="2560320"/>
            <a:ext cx="1234440" cy="0"/>
          </a:xfrm>
          <a:prstGeom prst="line">
            <a:avLst/>
          </a:prstGeom>
          <a:noFill/>
          <a:ln w="7620">
            <a:solidFill>
              <a:srgbClr val="B91C1C"/>
            </a:solidFill>
            <a:prstDash val="solid"/>
          </a:ln>
        </p:spPr>
      </p:sp>
      <p:sp>
        <p:nvSpPr>
          <p:cNvPr id="23" name="Text 21"/>
          <p:cNvSpPr/>
          <p:nvPr/>
        </p:nvSpPr>
        <p:spPr>
          <a:xfrm>
            <a:off x="5586984" y="2651760"/>
            <a:ext cx="1508760" cy="548640"/>
          </a:xfrm>
          <a:prstGeom prst="rect">
            <a:avLst/>
          </a:prstGeom>
          <a:noFill/>
          <a:ln/>
        </p:spPr>
        <p:txBody>
          <a:bodyPr wrap="square" lIns="0" tIns="0" rIns="0" bIns="0" rtlCol="0" anchor="t"/>
          <a:lstStyle/>
          <a:p>
            <a:pPr algn="ctr" indent="0" marL="0">
              <a:buNone/>
            </a:pPr>
            <a:r>
              <a:rPr lang="en-US" sz="1000" b="1" dirty="0">
                <a:solidFill>
                  <a:srgbClr val="1E40AF"/>
                </a:solidFill>
                <a:latin typeface="Calibri" pitchFamily="34" charset="0"/>
                <a:ea typeface="Calibri" pitchFamily="34" charset="-122"/>
                <a:cs typeface="Calibri" pitchFamily="34" charset="-120"/>
              </a:rPr>
              <a:t>Incident response</a:t>
            </a:r>
            <a:endParaRPr lang="en-US" sz="1000" dirty="0"/>
          </a:p>
          <a:p>
            <a:pPr algn="ctr" indent="0" marL="0">
              <a:buNone/>
            </a:pPr>
            <a:r>
              <a:rPr lang="en-US" sz="1000" b="1" dirty="0">
                <a:solidFill>
                  <a:srgbClr val="1E40AF"/>
                </a:solidFill>
                <a:latin typeface="Calibri" pitchFamily="34" charset="0"/>
                <a:ea typeface="Calibri" pitchFamily="34" charset="-122"/>
                <a:cs typeface="Calibri" pitchFamily="34" charset="-120"/>
              </a:rPr>
              <a:t>playbooks</a:t>
            </a:r>
            <a:endParaRPr lang="en-US" sz="1000" dirty="0"/>
          </a:p>
        </p:txBody>
      </p:sp>
      <p:sp>
        <p:nvSpPr>
          <p:cNvPr id="24" name="Shape 22"/>
          <p:cNvSpPr/>
          <p:nvPr/>
        </p:nvSpPr>
        <p:spPr>
          <a:xfrm>
            <a:off x="7296912" y="1188720"/>
            <a:ext cx="1600200" cy="2560320"/>
          </a:xfrm>
          <a:prstGeom prst="roundRect">
            <a:avLst>
              <a:gd name="adj" fmla="val 3429"/>
            </a:avLst>
          </a:prstGeom>
          <a:solidFill>
            <a:srgbClr val="EDE9FE"/>
          </a:solidFill>
          <a:ln w="15240">
            <a:solidFill>
              <a:srgbClr val="6D28D9"/>
            </a:solidFill>
            <a:prstDash val="solid"/>
          </a:ln>
        </p:spPr>
      </p:sp>
      <p:sp>
        <p:nvSpPr>
          <p:cNvPr id="25" name="Text 23"/>
          <p:cNvSpPr/>
          <p:nvPr/>
        </p:nvSpPr>
        <p:spPr>
          <a:xfrm>
            <a:off x="7342632" y="1280160"/>
            <a:ext cx="1508760" cy="36576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PARTNER</a:t>
            </a:r>
            <a:endParaRPr lang="en-US" sz="1400" dirty="0"/>
          </a:p>
        </p:txBody>
      </p:sp>
      <p:sp>
        <p:nvSpPr>
          <p:cNvPr id="26" name="Text 24"/>
          <p:cNvSpPr/>
          <p:nvPr/>
        </p:nvSpPr>
        <p:spPr>
          <a:xfrm>
            <a:off x="7342632" y="1737360"/>
            <a:ext cx="1508760" cy="731520"/>
          </a:xfrm>
          <a:prstGeom prst="rect">
            <a:avLst/>
          </a:prstGeom>
          <a:noFill/>
          <a:ln/>
        </p:spPr>
        <p:txBody>
          <a:bodyPr wrap="square" lIns="0" tIns="0" rIns="0" bIns="0" rtlCol="0" anchor="t"/>
          <a:lstStyle/>
          <a:p>
            <a:pPr algn="ctr" indent="0" marL="0">
              <a:buNone/>
            </a:pPr>
            <a:r>
              <a:rPr lang="en-US" sz="1000" dirty="0">
                <a:solidFill>
                  <a:srgbClr val="374151"/>
                </a:solidFill>
                <a:latin typeface="Calibri" pitchFamily="34" charset="0"/>
                <a:ea typeface="Calibri" pitchFamily="34" charset="-122"/>
                <a:cs typeface="Calibri" pitchFamily="34" charset="-120"/>
              </a:rPr>
              <a:t>Who built it?</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What contractual</a:t>
            </a:r>
            <a:endParaRPr lang="en-US" sz="1000" dirty="0"/>
          </a:p>
          <a:p>
            <a:pPr algn="ctr" indent="0" marL="0">
              <a:buNone/>
            </a:pPr>
            <a:r>
              <a:rPr lang="en-US" sz="1000" dirty="0">
                <a:solidFill>
                  <a:srgbClr val="374151"/>
                </a:solidFill>
                <a:latin typeface="Calibri" pitchFamily="34" charset="0"/>
                <a:ea typeface="Calibri" pitchFamily="34" charset="-122"/>
                <a:cs typeface="Calibri" pitchFamily="34" charset="-120"/>
              </a:rPr>
              <a:t>controls exist?</a:t>
            </a:r>
            <a:endParaRPr lang="en-US" sz="1000" dirty="0"/>
          </a:p>
        </p:txBody>
      </p:sp>
      <p:sp>
        <p:nvSpPr>
          <p:cNvPr id="27" name="Shape 25"/>
          <p:cNvSpPr/>
          <p:nvPr/>
        </p:nvSpPr>
        <p:spPr>
          <a:xfrm>
            <a:off x="7479792" y="2560320"/>
            <a:ext cx="1234440" cy="0"/>
          </a:xfrm>
          <a:prstGeom prst="line">
            <a:avLst/>
          </a:prstGeom>
          <a:noFill/>
          <a:ln w="7620">
            <a:solidFill>
              <a:srgbClr val="6D28D9"/>
            </a:solidFill>
            <a:prstDash val="solid"/>
          </a:ln>
        </p:spPr>
      </p:sp>
      <p:sp>
        <p:nvSpPr>
          <p:cNvPr id="28" name="Text 26"/>
          <p:cNvSpPr/>
          <p:nvPr/>
        </p:nvSpPr>
        <p:spPr>
          <a:xfrm>
            <a:off x="7342632" y="2651760"/>
            <a:ext cx="1508760" cy="548640"/>
          </a:xfrm>
          <a:prstGeom prst="rect">
            <a:avLst/>
          </a:prstGeom>
          <a:noFill/>
          <a:ln/>
        </p:spPr>
        <p:txBody>
          <a:bodyPr wrap="square" lIns="0" tIns="0" rIns="0" bIns="0" rtlCol="0" anchor="t"/>
          <a:lstStyle/>
          <a:p>
            <a:pPr algn="ctr" indent="0" marL="0">
              <a:buNone/>
            </a:pPr>
            <a:r>
              <a:rPr lang="en-US" sz="1000" b="1" dirty="0">
                <a:solidFill>
                  <a:srgbClr val="1E40AF"/>
                </a:solidFill>
                <a:latin typeface="Calibri" pitchFamily="34" charset="0"/>
                <a:ea typeface="Calibri" pitchFamily="34" charset="-122"/>
                <a:cs typeface="Calibri" pitchFamily="34" charset="-120"/>
              </a:rPr>
              <a:t>Vendor risk</a:t>
            </a:r>
            <a:endParaRPr lang="en-US" sz="1000" dirty="0"/>
          </a:p>
          <a:p>
            <a:pPr algn="ctr" indent="0" marL="0">
              <a:buNone/>
            </a:pPr>
            <a:r>
              <a:rPr lang="en-US" sz="1000" b="1" dirty="0">
                <a:solidFill>
                  <a:srgbClr val="1E40AF"/>
                </a:solidFill>
                <a:latin typeface="Calibri" pitchFamily="34" charset="0"/>
                <a:ea typeface="Calibri" pitchFamily="34" charset="-122"/>
                <a:cs typeface="Calibri" pitchFamily="34" charset="-120"/>
              </a:rPr>
              <a:t>assessment</a:t>
            </a:r>
            <a:endParaRPr lang="en-US" sz="1000" dirty="0"/>
          </a:p>
        </p:txBody>
      </p:sp>
      <p:sp>
        <p:nvSpPr>
          <p:cNvPr id="29" name="Shape 27"/>
          <p:cNvSpPr/>
          <p:nvPr/>
        </p:nvSpPr>
        <p:spPr>
          <a:xfrm>
            <a:off x="274320" y="3931920"/>
            <a:ext cx="8595360" cy="640080"/>
          </a:xfrm>
          <a:prstGeom prst="roundRect">
            <a:avLst>
              <a:gd name="adj" fmla="val 11429"/>
            </a:avLst>
          </a:prstGeom>
          <a:solidFill>
            <a:srgbClr val="F3F4F6"/>
          </a:solidFill>
          <a:ln/>
          <a:effectLst>
            <a:outerShdw sx="100000" sy="100000" kx="0" ky="0" algn="bl" rotWithShape="0" blurRad="50800" dist="12700" dir="16200000">
              <a:srgbClr val="000000">
                <a:alpha val="8000"/>
              </a:srgbClr>
            </a:outerShdw>
          </a:effectLst>
        </p:spPr>
      </p:sp>
      <p:sp>
        <p:nvSpPr>
          <p:cNvPr id="30" name="Text 28"/>
          <p:cNvSpPr/>
          <p:nvPr/>
        </p:nvSpPr>
        <p:spPr>
          <a:xfrm>
            <a:off x="457200" y="4023360"/>
            <a:ext cx="8229600" cy="45720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If you can answer these five questions for any AI system in any organisation, you are employable.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The Green–Amber–Red AI Risk Triage</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How practitioners classify AI systems for governance action</a:t>
            </a:r>
            <a:endParaRPr lang="en-US" sz="1200" dirty="0"/>
          </a:p>
        </p:txBody>
      </p:sp>
      <p:sp>
        <p:nvSpPr>
          <p:cNvPr id="4" name="Shape 2"/>
          <p:cNvSpPr/>
          <p:nvPr/>
        </p:nvSpPr>
        <p:spPr>
          <a:xfrm>
            <a:off x="365760" y="1097280"/>
            <a:ext cx="2651760" cy="2926080"/>
          </a:xfrm>
          <a:prstGeom prst="roundRect">
            <a:avLst>
              <a:gd name="adj" fmla="val 2069"/>
            </a:avLst>
          </a:prstGeom>
          <a:solidFill>
            <a:srgbClr val="D1FAE5"/>
          </a:solidFill>
          <a:ln w="15240">
            <a:solidFill>
              <a:srgbClr val="047857"/>
            </a:solidFill>
            <a:prstDash val="solid"/>
          </a:ln>
        </p:spPr>
      </p:sp>
      <p:sp>
        <p:nvSpPr>
          <p:cNvPr id="5" name="Text 3"/>
          <p:cNvSpPr/>
          <p:nvPr/>
        </p:nvSpPr>
        <p:spPr>
          <a:xfrm>
            <a:off x="457200" y="1234440"/>
            <a:ext cx="2468880" cy="457200"/>
          </a:xfrm>
          <a:prstGeom prst="rect">
            <a:avLst/>
          </a:prstGeom>
          <a:noFill/>
          <a:ln/>
        </p:spPr>
        <p:txBody>
          <a:bodyPr wrap="square" lIns="0" tIns="0" rIns="0" bIns="0" rtlCol="0" anchor="ctr"/>
          <a:lstStyle/>
          <a:p>
            <a:pPr algn="ctr" indent="0" marL="0">
              <a:buNone/>
            </a:pPr>
            <a:r>
              <a:rPr lang="en-US" sz="2200" b="1" dirty="0">
                <a:solidFill>
                  <a:srgbClr val="047857"/>
                </a:solidFill>
                <a:latin typeface="Calibri" pitchFamily="34" charset="0"/>
                <a:ea typeface="Calibri" pitchFamily="34" charset="-122"/>
                <a:cs typeface="Calibri" pitchFamily="34" charset="-120"/>
              </a:rPr>
              <a:t>GREEN</a:t>
            </a:r>
            <a:endParaRPr lang="en-US" sz="2200" dirty="0"/>
          </a:p>
        </p:txBody>
      </p:sp>
      <p:sp>
        <p:nvSpPr>
          <p:cNvPr id="6" name="Text 4"/>
          <p:cNvSpPr/>
          <p:nvPr/>
        </p:nvSpPr>
        <p:spPr>
          <a:xfrm>
            <a:off x="548640" y="1828800"/>
            <a:ext cx="2286000" cy="1371600"/>
          </a:xfrm>
          <a:prstGeom prst="rect">
            <a:avLst/>
          </a:prstGeom>
          <a:noFill/>
          <a:ln/>
        </p:spPr>
        <p:txBody>
          <a:bodyPr wrap="square" lIns="0" tIns="0" rIns="0" bIns="0" rtlCol="0" anchor="t"/>
          <a:lstStyle/>
          <a:p>
            <a:pPr algn="l" indent="0" marL="0">
              <a:buNone/>
            </a:pPr>
            <a:r>
              <a:rPr lang="en-US" sz="1000" dirty="0">
                <a:solidFill>
                  <a:srgbClr val="374151"/>
                </a:solidFill>
                <a:latin typeface="Calibri" pitchFamily="34" charset="0"/>
                <a:ea typeface="Calibri" pitchFamily="34" charset="-122"/>
                <a:cs typeface="Calibri" pitchFamily="34" charset="-120"/>
              </a:rPr>
              <a:t>All Five Ps answered,</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documented, and reviewed.</a:t>
            </a:r>
            <a:endParaRPr lang="en-US" sz="1000" dirty="0"/>
          </a:p>
          <a:p>
            <a:pPr algn="l" indent="0" marL="0">
              <a:buNone/>
            </a:pP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Governance controls in place.</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Audit trail exists.</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Board-level sign-off obtained.</a:t>
            </a:r>
            <a:endParaRPr lang="en-US" sz="1000" dirty="0"/>
          </a:p>
        </p:txBody>
      </p:sp>
      <p:sp>
        <p:nvSpPr>
          <p:cNvPr id="7" name="Text 5"/>
          <p:cNvSpPr/>
          <p:nvPr/>
        </p:nvSpPr>
        <p:spPr>
          <a:xfrm>
            <a:off x="548640" y="3291840"/>
            <a:ext cx="2286000" cy="457200"/>
          </a:xfrm>
          <a:prstGeom prst="rect">
            <a:avLst/>
          </a:prstGeom>
          <a:noFill/>
          <a:ln/>
        </p:spPr>
        <p:txBody>
          <a:bodyPr wrap="square" lIns="0" tIns="0" rIns="0" bIns="0" rtlCol="0" anchor="ctr"/>
          <a:lstStyle/>
          <a:p>
            <a:pPr algn="ctr" indent="0" marL="0">
              <a:buNone/>
            </a:pPr>
            <a:r>
              <a:rPr lang="en-US" sz="1200" b="1" dirty="0">
                <a:solidFill>
                  <a:srgbClr val="047857"/>
                </a:solidFill>
                <a:latin typeface="Calibri" pitchFamily="34" charset="0"/>
                <a:ea typeface="Calibri" pitchFamily="34" charset="-122"/>
                <a:cs typeface="Calibri" pitchFamily="34" charset="-120"/>
              </a:rPr>
              <a:t>DEPLOY</a:t>
            </a:r>
            <a:endParaRPr lang="en-US" sz="1200" dirty="0"/>
          </a:p>
        </p:txBody>
      </p:sp>
      <p:sp>
        <p:nvSpPr>
          <p:cNvPr id="8" name="Shape 6"/>
          <p:cNvSpPr/>
          <p:nvPr/>
        </p:nvSpPr>
        <p:spPr>
          <a:xfrm>
            <a:off x="3291840" y="1097280"/>
            <a:ext cx="2651760" cy="2926080"/>
          </a:xfrm>
          <a:prstGeom prst="roundRect">
            <a:avLst>
              <a:gd name="adj" fmla="val 2069"/>
            </a:avLst>
          </a:prstGeom>
          <a:solidFill>
            <a:srgbClr val="FEF3C7"/>
          </a:solidFill>
          <a:ln w="15240">
            <a:solidFill>
              <a:srgbClr val="B45309"/>
            </a:solidFill>
            <a:prstDash val="solid"/>
          </a:ln>
        </p:spPr>
      </p:sp>
      <p:sp>
        <p:nvSpPr>
          <p:cNvPr id="9" name="Text 7"/>
          <p:cNvSpPr/>
          <p:nvPr/>
        </p:nvSpPr>
        <p:spPr>
          <a:xfrm>
            <a:off x="3383280" y="1234440"/>
            <a:ext cx="2468880" cy="457200"/>
          </a:xfrm>
          <a:prstGeom prst="rect">
            <a:avLst/>
          </a:prstGeom>
          <a:noFill/>
          <a:ln/>
        </p:spPr>
        <p:txBody>
          <a:bodyPr wrap="square" lIns="0" tIns="0" rIns="0" bIns="0" rtlCol="0" anchor="ctr"/>
          <a:lstStyle/>
          <a:p>
            <a:pPr algn="ctr" indent="0" marL="0">
              <a:buNone/>
            </a:pPr>
            <a:r>
              <a:rPr lang="en-US" sz="2200" b="1" dirty="0">
                <a:solidFill>
                  <a:srgbClr val="B45309"/>
                </a:solidFill>
                <a:latin typeface="Calibri" pitchFamily="34" charset="0"/>
                <a:ea typeface="Calibri" pitchFamily="34" charset="-122"/>
                <a:cs typeface="Calibri" pitchFamily="34" charset="-120"/>
              </a:rPr>
              <a:t>AMBER</a:t>
            </a:r>
            <a:endParaRPr lang="en-US" sz="2200" dirty="0"/>
          </a:p>
        </p:txBody>
      </p:sp>
      <p:sp>
        <p:nvSpPr>
          <p:cNvPr id="10" name="Text 8"/>
          <p:cNvSpPr/>
          <p:nvPr/>
        </p:nvSpPr>
        <p:spPr>
          <a:xfrm>
            <a:off x="3474720" y="1828800"/>
            <a:ext cx="2286000" cy="1371600"/>
          </a:xfrm>
          <a:prstGeom prst="rect">
            <a:avLst/>
          </a:prstGeom>
          <a:noFill/>
          <a:ln/>
        </p:spPr>
        <p:txBody>
          <a:bodyPr wrap="square" lIns="0" tIns="0" rIns="0" bIns="0" rtlCol="0" anchor="t"/>
          <a:lstStyle/>
          <a:p>
            <a:pPr algn="l" indent="0" marL="0">
              <a:buNone/>
            </a:pPr>
            <a:r>
              <a:rPr lang="en-US" sz="1000" dirty="0">
                <a:solidFill>
                  <a:srgbClr val="374151"/>
                </a:solidFill>
                <a:latin typeface="Calibri" pitchFamily="34" charset="0"/>
                <a:ea typeface="Calibri" pitchFamily="34" charset="-122"/>
                <a:cs typeface="Calibri" pitchFamily="34" charset="-120"/>
              </a:rPr>
              <a:t>Gaps in 1–2 Ps.</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Remediation plan exists</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with timeline and owner.</a:t>
            </a:r>
            <a:endParaRPr lang="en-US" sz="1000" dirty="0"/>
          </a:p>
          <a:p>
            <a:pPr algn="l" indent="0" marL="0">
              <a:buNone/>
            </a:pP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Conditional deployment</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with monitoring.</a:t>
            </a:r>
            <a:endParaRPr lang="en-US" sz="1000" dirty="0"/>
          </a:p>
        </p:txBody>
      </p:sp>
      <p:sp>
        <p:nvSpPr>
          <p:cNvPr id="11" name="Text 9"/>
          <p:cNvSpPr/>
          <p:nvPr/>
        </p:nvSpPr>
        <p:spPr>
          <a:xfrm>
            <a:off x="3474720" y="3291840"/>
            <a:ext cx="2286000" cy="457200"/>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DEPLOY WITH</a:t>
            </a:r>
            <a:endParaRPr lang="en-US" sz="1200" dirty="0"/>
          </a:p>
          <a:p>
            <a:pPr algn="ctr" indent="0" marL="0">
              <a:buNone/>
            </a:pPr>
            <a:r>
              <a:rPr lang="en-US" sz="1200" b="1" dirty="0">
                <a:solidFill>
                  <a:srgbClr val="B45309"/>
                </a:solidFill>
                <a:latin typeface="Calibri" pitchFamily="34" charset="0"/>
                <a:ea typeface="Calibri" pitchFamily="34" charset="-122"/>
                <a:cs typeface="Calibri" pitchFamily="34" charset="-120"/>
              </a:rPr>
              <a:t>CONDITIONS</a:t>
            </a:r>
            <a:endParaRPr lang="en-US" sz="1200" dirty="0"/>
          </a:p>
        </p:txBody>
      </p:sp>
      <p:sp>
        <p:nvSpPr>
          <p:cNvPr id="12" name="Shape 10"/>
          <p:cNvSpPr/>
          <p:nvPr/>
        </p:nvSpPr>
        <p:spPr>
          <a:xfrm>
            <a:off x="6217920" y="1097280"/>
            <a:ext cx="2651760" cy="2926080"/>
          </a:xfrm>
          <a:prstGeom prst="roundRect">
            <a:avLst>
              <a:gd name="adj" fmla="val 2069"/>
            </a:avLst>
          </a:prstGeom>
          <a:solidFill>
            <a:srgbClr val="FEE2E2"/>
          </a:solidFill>
          <a:ln w="15240">
            <a:solidFill>
              <a:srgbClr val="B91C1C"/>
            </a:solidFill>
            <a:prstDash val="solid"/>
          </a:ln>
        </p:spPr>
      </p:sp>
      <p:sp>
        <p:nvSpPr>
          <p:cNvPr id="13" name="Text 11"/>
          <p:cNvSpPr/>
          <p:nvPr/>
        </p:nvSpPr>
        <p:spPr>
          <a:xfrm>
            <a:off x="6309360" y="1234440"/>
            <a:ext cx="2468880" cy="457200"/>
          </a:xfrm>
          <a:prstGeom prst="rect">
            <a:avLst/>
          </a:prstGeom>
          <a:noFill/>
          <a:ln/>
        </p:spPr>
        <p:txBody>
          <a:bodyPr wrap="square" lIns="0" tIns="0" rIns="0" bIns="0" rtlCol="0" anchor="ctr"/>
          <a:lstStyle/>
          <a:p>
            <a:pPr algn="ctr" indent="0" marL="0">
              <a:buNone/>
            </a:pPr>
            <a:r>
              <a:rPr lang="en-US" sz="2200" b="1" dirty="0">
                <a:solidFill>
                  <a:srgbClr val="B91C1C"/>
                </a:solidFill>
                <a:latin typeface="Calibri" pitchFamily="34" charset="0"/>
                <a:ea typeface="Calibri" pitchFamily="34" charset="-122"/>
                <a:cs typeface="Calibri" pitchFamily="34" charset="-120"/>
              </a:rPr>
              <a:t>RED</a:t>
            </a:r>
            <a:endParaRPr lang="en-US" sz="2200" dirty="0"/>
          </a:p>
        </p:txBody>
      </p:sp>
      <p:sp>
        <p:nvSpPr>
          <p:cNvPr id="14" name="Text 12"/>
          <p:cNvSpPr/>
          <p:nvPr/>
        </p:nvSpPr>
        <p:spPr>
          <a:xfrm>
            <a:off x="6400800" y="1828800"/>
            <a:ext cx="2286000" cy="1371600"/>
          </a:xfrm>
          <a:prstGeom prst="rect">
            <a:avLst/>
          </a:prstGeom>
          <a:noFill/>
          <a:ln/>
        </p:spPr>
        <p:txBody>
          <a:bodyPr wrap="square" lIns="0" tIns="0" rIns="0" bIns="0" rtlCol="0" anchor="t"/>
          <a:lstStyle/>
          <a:p>
            <a:pPr algn="l" indent="0" marL="0">
              <a:buNone/>
            </a:pPr>
            <a:r>
              <a:rPr lang="en-US" sz="1000" dirty="0">
                <a:solidFill>
                  <a:srgbClr val="374151"/>
                </a:solidFill>
                <a:latin typeface="Calibri" pitchFamily="34" charset="0"/>
                <a:ea typeface="Calibri" pitchFamily="34" charset="-122"/>
                <a:cs typeface="Calibri" pitchFamily="34" charset="-120"/>
              </a:rPr>
              <a:t>3+ Ps unanswered.</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No remediation plan.</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No accountability mapping.</a:t>
            </a:r>
            <a:endParaRPr lang="en-US" sz="1000" dirty="0"/>
          </a:p>
          <a:p>
            <a:pPr algn="l" indent="0" marL="0">
              <a:buNone/>
            </a:pP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Material regulatory</a:t>
            </a:r>
            <a:endParaRPr lang="en-US" sz="1000" dirty="0"/>
          </a:p>
          <a:p>
            <a:pPr algn="l" indent="0" marL="0">
              <a:buNone/>
            </a:pPr>
            <a:r>
              <a:rPr lang="en-US" sz="1000" dirty="0">
                <a:solidFill>
                  <a:srgbClr val="374151"/>
                </a:solidFill>
                <a:latin typeface="Calibri" pitchFamily="34" charset="0"/>
                <a:ea typeface="Calibri" pitchFamily="34" charset="-122"/>
                <a:cs typeface="Calibri" pitchFamily="34" charset="-120"/>
              </a:rPr>
              <a:t>or reputational risk.</a:t>
            </a:r>
            <a:endParaRPr lang="en-US" sz="1000" dirty="0"/>
          </a:p>
        </p:txBody>
      </p:sp>
      <p:sp>
        <p:nvSpPr>
          <p:cNvPr id="15" name="Text 13"/>
          <p:cNvSpPr/>
          <p:nvPr/>
        </p:nvSpPr>
        <p:spPr>
          <a:xfrm>
            <a:off x="6400800" y="3291840"/>
            <a:ext cx="2286000" cy="45720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STOP</a:t>
            </a:r>
            <a:endParaRPr lang="en-US" sz="1200" dirty="0"/>
          </a:p>
          <a:p>
            <a:pPr algn="ctr" indent="0" marL="0">
              <a:buNone/>
            </a:pPr>
            <a:r>
              <a:rPr lang="en-US" sz="1200" b="1" dirty="0">
                <a:solidFill>
                  <a:srgbClr val="B91C1C"/>
                </a:solidFill>
                <a:latin typeface="Calibri" pitchFamily="34" charset="0"/>
                <a:ea typeface="Calibri" pitchFamily="34" charset="-122"/>
                <a:cs typeface="Calibri" pitchFamily="34" charset="-120"/>
              </a:rPr>
              <a:t>DEPLOYMENT</a:t>
            </a:r>
            <a:endParaRPr lang="en-US" sz="1200" dirty="0"/>
          </a:p>
        </p:txBody>
      </p:sp>
      <p:sp>
        <p:nvSpPr>
          <p:cNvPr id="16" name="Text 14"/>
          <p:cNvSpPr/>
          <p:nvPr/>
        </p:nvSpPr>
        <p:spPr>
          <a:xfrm>
            <a:off x="365760" y="4297680"/>
            <a:ext cx="8412480" cy="36576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Learn to use this classification and you speak the language of every CISO, DPO and General Counsel.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lIns="0" tIns="0" rIns="0" bIns="0" rtlCol="0" anchor="ctr"/>
          <a:lstStyle/>
          <a:p>
            <a:pPr algn="l" indent="0" marL="0">
              <a:buNone/>
            </a:pPr>
            <a:r>
              <a:rPr lang="en-US" sz="2400" b="1" dirty="0">
                <a:solidFill>
                  <a:srgbClr val="1B2A4A"/>
                </a:solidFill>
                <a:latin typeface="Cambria" pitchFamily="34" charset="0"/>
                <a:ea typeface="Cambria" pitchFamily="34" charset="-122"/>
                <a:cs typeface="Cambria" pitchFamily="34" charset="-120"/>
              </a:rPr>
              <a:t>Your 90-Day Plan — Start Monday</a:t>
            </a:r>
            <a:endParaRPr lang="en-US" sz="2400" dirty="0"/>
          </a:p>
        </p:txBody>
      </p:sp>
      <p:sp>
        <p:nvSpPr>
          <p:cNvPr id="3" name="Text 1"/>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Low-cost, largely accessible, and possible without waiting for a curriculum revision</a:t>
            </a:r>
            <a:endParaRPr lang="en-US" sz="1200" dirty="0"/>
          </a:p>
        </p:txBody>
      </p:sp>
      <p:sp>
        <p:nvSpPr>
          <p:cNvPr id="4" name="Shape 2"/>
          <p:cNvSpPr/>
          <p:nvPr/>
        </p:nvSpPr>
        <p:spPr>
          <a:xfrm>
            <a:off x="274320" y="1097280"/>
            <a:ext cx="2743200" cy="3383280"/>
          </a:xfrm>
          <a:prstGeom prst="roundRect">
            <a:avLst>
              <a:gd name="adj" fmla="val 2000"/>
            </a:avLst>
          </a:prstGeom>
          <a:solidFill>
            <a:srgbClr val="D1FAE5"/>
          </a:solidFill>
          <a:ln w="15240">
            <a:solidFill>
              <a:srgbClr val="047857"/>
            </a:solidFill>
            <a:prstDash val="solid"/>
          </a:ln>
        </p:spPr>
      </p:sp>
      <p:sp>
        <p:nvSpPr>
          <p:cNvPr id="5" name="Text 3"/>
          <p:cNvSpPr/>
          <p:nvPr/>
        </p:nvSpPr>
        <p:spPr>
          <a:xfrm>
            <a:off x="365760" y="1188720"/>
            <a:ext cx="2560320" cy="548640"/>
          </a:xfrm>
          <a:prstGeom prst="rect">
            <a:avLst/>
          </a:prstGeom>
          <a:noFill/>
          <a:ln/>
        </p:spPr>
        <p:txBody>
          <a:bodyPr wrap="square" lIns="0" tIns="0" rIns="0" bIns="0" rtlCol="0" anchor="ctr"/>
          <a:lstStyle/>
          <a:p>
            <a:pPr algn="ctr" indent="0" marL="0">
              <a:buNone/>
            </a:pPr>
            <a:r>
              <a:rPr lang="en-US" sz="1300" b="1" dirty="0">
                <a:solidFill>
                  <a:srgbClr val="047857"/>
                </a:solidFill>
                <a:latin typeface="Calibri" pitchFamily="34" charset="0"/>
                <a:ea typeface="Calibri" pitchFamily="34" charset="-122"/>
                <a:cs typeface="Calibri" pitchFamily="34" charset="-120"/>
              </a:rPr>
              <a:t>DAYS 1–30</a:t>
            </a:r>
            <a:endParaRPr lang="en-US" sz="1300" dirty="0"/>
          </a:p>
          <a:p>
            <a:pPr algn="ctr" indent="0" marL="0">
              <a:buNone/>
            </a:pPr>
            <a:r>
              <a:rPr lang="en-US" sz="1300" b="1" dirty="0">
                <a:solidFill>
                  <a:srgbClr val="047857"/>
                </a:solidFill>
                <a:latin typeface="Calibri" pitchFamily="34" charset="0"/>
                <a:ea typeface="Calibri" pitchFamily="34" charset="-122"/>
                <a:cs typeface="Calibri" pitchFamily="34" charset="-120"/>
              </a:rPr>
              <a:t>UNDERSTAND</a:t>
            </a:r>
            <a:endParaRPr lang="en-US" sz="1300" dirty="0"/>
          </a:p>
        </p:txBody>
      </p:sp>
      <p:sp>
        <p:nvSpPr>
          <p:cNvPr id="6" name="Text 4"/>
          <p:cNvSpPr/>
          <p:nvPr/>
        </p:nvSpPr>
        <p:spPr>
          <a:xfrm>
            <a:off x="411480" y="1828800"/>
            <a:ext cx="2468880" cy="2011680"/>
          </a:xfrm>
          <a:prstGeom prst="rect">
            <a:avLst/>
          </a:prstGeom>
          <a:noFill/>
          <a:ln/>
        </p:spPr>
        <p:txBody>
          <a:bodyPr wrap="square" lIns="0" tIns="0" rIns="0" bIns="0" rtlCol="0" anchor="t"/>
          <a:lstStyle/>
          <a:p>
            <a:pPr algn="l" indent="0" marL="0">
              <a:buNone/>
            </a:pPr>
            <a:r>
              <a:rPr lang="en-US" sz="950" dirty="0">
                <a:solidFill>
                  <a:srgbClr val="374151"/>
                </a:solidFill>
                <a:latin typeface="Calibri" pitchFamily="34" charset="0"/>
                <a:ea typeface="Calibri" pitchFamily="34" charset="-122"/>
                <a:cs typeface="Calibri" pitchFamily="34" charset="-120"/>
              </a:rPr>
              <a:t>Complete one accessible introductory AI course</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Read the NIST AI RMF overview</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Read the DPDP Act and selected Rules</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Study the SC draft AI Regulations</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Learn how hallucination, retrieval and source verification work</a:t>
            </a:r>
            <a:endParaRPr lang="en-US" sz="950" dirty="0"/>
          </a:p>
        </p:txBody>
      </p:sp>
      <p:sp>
        <p:nvSpPr>
          <p:cNvPr id="7" name="Text 5"/>
          <p:cNvSpPr/>
          <p:nvPr/>
        </p:nvSpPr>
        <p:spPr>
          <a:xfrm>
            <a:off x="411480" y="3886200"/>
            <a:ext cx="2468880" cy="365760"/>
          </a:xfrm>
          <a:prstGeom prst="rect">
            <a:avLst/>
          </a:prstGeom>
          <a:noFill/>
          <a:ln/>
        </p:spPr>
        <p:txBody>
          <a:bodyPr wrap="square" lIns="0" tIns="0" rIns="0" bIns="0" rtlCol="0" anchor="ctr"/>
          <a:lstStyle/>
          <a:p>
            <a:pPr algn="ctr" indent="0" marL="0">
              <a:buNone/>
            </a:pPr>
            <a:r>
              <a:rPr lang="en-US" sz="900" b="1" i="1" dirty="0">
                <a:solidFill>
                  <a:srgbClr val="047857"/>
                </a:solidFill>
                <a:latin typeface="Calibri" pitchFamily="34" charset="0"/>
                <a:ea typeface="Calibri" pitchFamily="34" charset="-122"/>
                <a:cs typeface="Calibri" pitchFamily="34" charset="-120"/>
              </a:rPr>
              <a:t>Foundation: you understand the landscape</a:t>
            </a:r>
            <a:endParaRPr lang="en-US" sz="900" dirty="0"/>
          </a:p>
        </p:txBody>
      </p:sp>
      <p:sp>
        <p:nvSpPr>
          <p:cNvPr id="8" name="Shape 6"/>
          <p:cNvSpPr/>
          <p:nvPr/>
        </p:nvSpPr>
        <p:spPr>
          <a:xfrm>
            <a:off x="3063240" y="2560320"/>
            <a:ext cx="91440" cy="0"/>
          </a:xfrm>
          <a:prstGeom prst="line">
            <a:avLst/>
          </a:prstGeom>
          <a:noFill/>
          <a:ln w="19050">
            <a:solidFill>
              <a:srgbClr val="6B7280"/>
            </a:solidFill>
            <a:prstDash val="solid"/>
            <a:tailEnd type="triangle"/>
          </a:ln>
        </p:spPr>
      </p:sp>
      <p:sp>
        <p:nvSpPr>
          <p:cNvPr id="9" name="Shape 7"/>
          <p:cNvSpPr/>
          <p:nvPr/>
        </p:nvSpPr>
        <p:spPr>
          <a:xfrm>
            <a:off x="3200400" y="1097280"/>
            <a:ext cx="2743200" cy="3383280"/>
          </a:xfrm>
          <a:prstGeom prst="roundRect">
            <a:avLst>
              <a:gd name="adj" fmla="val 2000"/>
            </a:avLst>
          </a:prstGeom>
          <a:solidFill>
            <a:srgbClr val="DBEAFE"/>
          </a:solidFill>
          <a:ln w="15240">
            <a:solidFill>
              <a:srgbClr val="1E40AF"/>
            </a:solidFill>
            <a:prstDash val="solid"/>
          </a:ln>
        </p:spPr>
      </p:sp>
      <p:sp>
        <p:nvSpPr>
          <p:cNvPr id="10" name="Text 8"/>
          <p:cNvSpPr/>
          <p:nvPr/>
        </p:nvSpPr>
        <p:spPr>
          <a:xfrm>
            <a:off x="3291840" y="1188720"/>
            <a:ext cx="2560320" cy="548640"/>
          </a:xfrm>
          <a:prstGeom prst="rect">
            <a:avLst/>
          </a:prstGeom>
          <a:noFill/>
          <a:ln/>
        </p:spPr>
        <p:txBody>
          <a:bodyPr wrap="square" lIns="0" tIns="0" rIns="0" bIns="0" rtlCol="0" anchor="ctr"/>
          <a:lstStyle/>
          <a:p>
            <a:pPr algn="ctr" indent="0" marL="0">
              <a:buNone/>
            </a:pPr>
            <a:r>
              <a:rPr lang="en-US" sz="1300" b="1" dirty="0">
                <a:solidFill>
                  <a:srgbClr val="1E40AF"/>
                </a:solidFill>
                <a:latin typeface="Calibri" pitchFamily="34" charset="0"/>
                <a:ea typeface="Calibri" pitchFamily="34" charset="-122"/>
                <a:cs typeface="Calibri" pitchFamily="34" charset="-120"/>
              </a:rPr>
              <a:t>DAYS 31–60</a:t>
            </a:r>
            <a:endParaRPr lang="en-US" sz="1300" dirty="0"/>
          </a:p>
          <a:p>
            <a:pPr algn="ctr" indent="0" marL="0">
              <a:buNone/>
            </a:pPr>
            <a:r>
              <a:rPr lang="en-US" sz="1300" b="1" dirty="0">
                <a:solidFill>
                  <a:srgbClr val="1E40AF"/>
                </a:solidFill>
                <a:latin typeface="Calibri" pitchFamily="34" charset="0"/>
                <a:ea typeface="Calibri" pitchFamily="34" charset="-122"/>
                <a:cs typeface="Calibri" pitchFamily="34" charset="-120"/>
              </a:rPr>
              <a:t>APPLY</a:t>
            </a:r>
            <a:endParaRPr lang="en-US" sz="1300" dirty="0"/>
          </a:p>
        </p:txBody>
      </p:sp>
      <p:sp>
        <p:nvSpPr>
          <p:cNvPr id="11" name="Text 9"/>
          <p:cNvSpPr/>
          <p:nvPr/>
        </p:nvSpPr>
        <p:spPr>
          <a:xfrm>
            <a:off x="3337560" y="1828800"/>
            <a:ext cx="2468880" cy="2011680"/>
          </a:xfrm>
          <a:prstGeom prst="rect">
            <a:avLst/>
          </a:prstGeom>
          <a:noFill/>
          <a:ln/>
        </p:spPr>
        <p:txBody>
          <a:bodyPr wrap="square" lIns="0" tIns="0" rIns="0" bIns="0" rtlCol="0" anchor="t"/>
          <a:lstStyle/>
          <a:p>
            <a:pPr algn="l" indent="0" marL="0">
              <a:buNone/>
            </a:pPr>
            <a:r>
              <a:rPr lang="en-US" sz="950" dirty="0">
                <a:solidFill>
                  <a:srgbClr val="374151"/>
                </a:solidFill>
                <a:latin typeface="Calibri" pitchFamily="34" charset="0"/>
                <a:ea typeface="Calibri" pitchFamily="34" charset="-122"/>
                <a:cs typeface="Calibri" pitchFamily="34" charset="-120"/>
              </a:rPr>
              <a:t>Draft a mock AI-use policy</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Produce a simple DPIA</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Build a legal-AI vendor questionnaire</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Write a verified research memorandum</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Create a Green–Amber–Red AI-use classification</a:t>
            </a:r>
            <a:endParaRPr lang="en-US" sz="950" dirty="0"/>
          </a:p>
        </p:txBody>
      </p:sp>
      <p:sp>
        <p:nvSpPr>
          <p:cNvPr id="12" name="Text 10"/>
          <p:cNvSpPr/>
          <p:nvPr/>
        </p:nvSpPr>
        <p:spPr>
          <a:xfrm>
            <a:off x="3337560" y="3886200"/>
            <a:ext cx="2468880" cy="365760"/>
          </a:xfrm>
          <a:prstGeom prst="rect">
            <a:avLst/>
          </a:prstGeom>
          <a:noFill/>
          <a:ln/>
        </p:spPr>
        <p:txBody>
          <a:bodyPr wrap="square" lIns="0" tIns="0" rIns="0" bIns="0" rtlCol="0" anchor="ctr"/>
          <a:lstStyle/>
          <a:p>
            <a:pPr algn="ctr" indent="0" marL="0">
              <a:buNone/>
            </a:pPr>
            <a:r>
              <a:rPr lang="en-US" sz="900" b="1" i="1" dirty="0">
                <a:solidFill>
                  <a:srgbClr val="1E40AF"/>
                </a:solidFill>
                <a:latin typeface="Calibri" pitchFamily="34" charset="0"/>
                <a:ea typeface="Calibri" pitchFamily="34" charset="-122"/>
                <a:cs typeface="Calibri" pitchFamily="34" charset="-120"/>
              </a:rPr>
              <a:t>Artefacts: you can show what you can do</a:t>
            </a:r>
            <a:endParaRPr lang="en-US" sz="900" dirty="0"/>
          </a:p>
        </p:txBody>
      </p:sp>
      <p:sp>
        <p:nvSpPr>
          <p:cNvPr id="13" name="Shape 11"/>
          <p:cNvSpPr/>
          <p:nvPr/>
        </p:nvSpPr>
        <p:spPr>
          <a:xfrm>
            <a:off x="5989320" y="2560320"/>
            <a:ext cx="91440" cy="0"/>
          </a:xfrm>
          <a:prstGeom prst="line">
            <a:avLst/>
          </a:prstGeom>
          <a:noFill/>
          <a:ln w="19050">
            <a:solidFill>
              <a:srgbClr val="6B7280"/>
            </a:solidFill>
            <a:prstDash val="solid"/>
            <a:tailEnd type="triangle"/>
          </a:ln>
        </p:spPr>
      </p:sp>
      <p:sp>
        <p:nvSpPr>
          <p:cNvPr id="14" name="Shape 12"/>
          <p:cNvSpPr/>
          <p:nvPr/>
        </p:nvSpPr>
        <p:spPr>
          <a:xfrm>
            <a:off x="6126480" y="1097280"/>
            <a:ext cx="2743200" cy="3383280"/>
          </a:xfrm>
          <a:prstGeom prst="roundRect">
            <a:avLst>
              <a:gd name="adj" fmla="val 2000"/>
            </a:avLst>
          </a:prstGeom>
          <a:solidFill>
            <a:srgbClr val="FEF3C7"/>
          </a:solidFill>
          <a:ln w="15240">
            <a:solidFill>
              <a:srgbClr val="B45309"/>
            </a:solidFill>
            <a:prstDash val="solid"/>
          </a:ln>
        </p:spPr>
      </p:sp>
      <p:sp>
        <p:nvSpPr>
          <p:cNvPr id="15" name="Text 13"/>
          <p:cNvSpPr/>
          <p:nvPr/>
        </p:nvSpPr>
        <p:spPr>
          <a:xfrm>
            <a:off x="6217920" y="1188720"/>
            <a:ext cx="2560320" cy="548640"/>
          </a:xfrm>
          <a:prstGeom prst="rect">
            <a:avLst/>
          </a:prstGeom>
          <a:noFill/>
          <a:ln/>
        </p:spPr>
        <p:txBody>
          <a:bodyPr wrap="square" lIns="0" tIns="0" rIns="0" bIns="0" rtlCol="0" anchor="ctr"/>
          <a:lstStyle/>
          <a:p>
            <a:pPr algn="ctr" indent="0" marL="0">
              <a:buNone/>
            </a:pPr>
            <a:r>
              <a:rPr lang="en-US" sz="1300" b="1" dirty="0">
                <a:solidFill>
                  <a:srgbClr val="B45309"/>
                </a:solidFill>
                <a:latin typeface="Calibri" pitchFamily="34" charset="0"/>
                <a:ea typeface="Calibri" pitchFamily="34" charset="-122"/>
                <a:cs typeface="Calibri" pitchFamily="34" charset="-120"/>
              </a:rPr>
              <a:t>DAYS 61–90</a:t>
            </a:r>
            <a:endParaRPr lang="en-US" sz="1300" dirty="0"/>
          </a:p>
          <a:p>
            <a:pPr algn="ctr" indent="0" marL="0">
              <a:buNone/>
            </a:pPr>
            <a:r>
              <a:rPr lang="en-US" sz="1300" b="1" dirty="0">
                <a:solidFill>
                  <a:srgbClr val="B45309"/>
                </a:solidFill>
                <a:latin typeface="Calibri" pitchFamily="34" charset="0"/>
                <a:ea typeface="Calibri" pitchFamily="34" charset="-122"/>
                <a:cs typeface="Calibri" pitchFamily="34" charset="-120"/>
              </a:rPr>
              <a:t>DEMONSTRATE</a:t>
            </a:r>
            <a:endParaRPr lang="en-US" sz="1300" dirty="0"/>
          </a:p>
        </p:txBody>
      </p:sp>
      <p:sp>
        <p:nvSpPr>
          <p:cNvPr id="16" name="Text 14"/>
          <p:cNvSpPr/>
          <p:nvPr/>
        </p:nvSpPr>
        <p:spPr>
          <a:xfrm>
            <a:off x="6263640" y="1828800"/>
            <a:ext cx="2468880" cy="2011680"/>
          </a:xfrm>
          <a:prstGeom prst="rect">
            <a:avLst/>
          </a:prstGeom>
          <a:noFill/>
          <a:ln/>
        </p:spPr>
        <p:txBody>
          <a:bodyPr wrap="square" lIns="0" tIns="0" rIns="0" bIns="0" rtlCol="0" anchor="t"/>
          <a:lstStyle/>
          <a:p>
            <a:pPr algn="l" indent="0" marL="0">
              <a:buNone/>
            </a:pPr>
            <a:r>
              <a:rPr lang="en-US" sz="950" dirty="0">
                <a:solidFill>
                  <a:srgbClr val="374151"/>
                </a:solidFill>
                <a:latin typeface="Calibri" pitchFamily="34" charset="0"/>
                <a:ea typeface="Calibri" pitchFamily="34" charset="-122"/>
                <a:cs typeface="Calibri" pitchFamily="34" charset="-120"/>
              </a:rPr>
              <a:t>Combine artefacts into a portfolio</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Present one project to faculty or practitioners</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Publish one well-sourced India-focused note</a:t>
            </a:r>
            <a:endParaRPr lang="en-US" sz="950" dirty="0"/>
          </a:p>
          <a:p>
            <a:pPr algn="l" indent="0" marL="0">
              <a:buNone/>
            </a:pPr>
            <a:endParaRPr lang="en-US" sz="950" dirty="0"/>
          </a:p>
          <a:p>
            <a:pPr algn="l" indent="0" marL="0">
              <a:buNone/>
            </a:pPr>
            <a:r>
              <a:rPr lang="en-US" sz="950" dirty="0">
                <a:solidFill>
                  <a:srgbClr val="374151"/>
                </a:solidFill>
                <a:latin typeface="Calibri" pitchFamily="34" charset="0"/>
                <a:ea typeface="Calibri" pitchFamily="34" charset="-122"/>
                <a:cs typeface="Calibri" pitchFamily="34" charset="-120"/>
              </a:rPr>
              <a:t>Apply to law firms, GCCs, legal tech and consulting organisations</a:t>
            </a:r>
            <a:endParaRPr lang="en-US" sz="950" dirty="0"/>
          </a:p>
        </p:txBody>
      </p:sp>
      <p:sp>
        <p:nvSpPr>
          <p:cNvPr id="17" name="Text 15"/>
          <p:cNvSpPr/>
          <p:nvPr/>
        </p:nvSpPr>
        <p:spPr>
          <a:xfrm>
            <a:off x="6263640" y="3886200"/>
            <a:ext cx="2468880" cy="365760"/>
          </a:xfrm>
          <a:prstGeom prst="rect">
            <a:avLst/>
          </a:prstGeom>
          <a:noFill/>
          <a:ln/>
        </p:spPr>
        <p:txBody>
          <a:bodyPr wrap="square" lIns="0" tIns="0" rIns="0" bIns="0" rtlCol="0" anchor="ctr"/>
          <a:lstStyle/>
          <a:p>
            <a:pPr algn="ctr" indent="0" marL="0">
              <a:buNone/>
            </a:pPr>
            <a:r>
              <a:rPr lang="en-US" sz="900" b="1" i="1" dirty="0">
                <a:solidFill>
                  <a:srgbClr val="B45309"/>
                </a:solidFill>
                <a:latin typeface="Calibri" pitchFamily="34" charset="0"/>
                <a:ea typeface="Calibri" pitchFamily="34" charset="-122"/>
                <a:cs typeface="Calibri" pitchFamily="34" charset="-120"/>
              </a:rPr>
              <a:t>Visibility: employers can find you</a:t>
            </a:r>
            <a:endParaRPr lang="en-US" sz="900" dirty="0"/>
          </a:p>
        </p:txBody>
      </p:sp>
      <p:sp>
        <p:nvSpPr>
          <p:cNvPr id="18" name="Text 16"/>
          <p:cNvSpPr/>
          <p:nvPr/>
        </p:nvSpPr>
        <p:spPr>
          <a:xfrm>
            <a:off x="274320" y="4617720"/>
            <a:ext cx="8595360"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After 90 days: 1 course · 1 mock DPIA · 1 AI-use policy · 1 portfolio · applications sent.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731520" y="914400"/>
            <a:ext cx="7680960" cy="731520"/>
          </a:xfrm>
          <a:prstGeom prst="rect">
            <a:avLst/>
          </a:prstGeom>
          <a:noFill/>
          <a:ln/>
        </p:spPr>
        <p:txBody>
          <a:bodyPr wrap="square" lIns="0" tIns="0" rIns="0" bIns="0" rtlCol="0" anchor="ctr"/>
          <a:lstStyle/>
          <a:p>
            <a:pPr algn="l" indent="0" marL="0">
              <a:buNone/>
            </a:pPr>
            <a:r>
              <a:rPr lang="en-US" sz="2000" i="1" dirty="0">
                <a:solidFill>
                  <a:srgbClr val="94A3B8"/>
                </a:solidFill>
                <a:latin typeface="Cambria" pitchFamily="34" charset="0"/>
                <a:ea typeface="Cambria" pitchFamily="34" charset="-122"/>
                <a:cs typeface="Cambria" pitchFamily="34" charset="-120"/>
              </a:rPr>
              <a:t>The profession will need fewer professionals whose value ends with producing the first draft —</a:t>
            </a:r>
            <a:endParaRPr lang="en-US" sz="2000" dirty="0"/>
          </a:p>
        </p:txBody>
      </p:sp>
      <p:sp>
        <p:nvSpPr>
          <p:cNvPr id="3" name="Text 1"/>
          <p:cNvSpPr/>
          <p:nvPr/>
        </p:nvSpPr>
        <p:spPr>
          <a:xfrm>
            <a:off x="731520" y="1645920"/>
            <a:ext cx="7680960" cy="73152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and more professionals who can verify, govern and defend technology-assisted decisions.</a:t>
            </a:r>
            <a:endParaRPr lang="en-US" sz="2200" dirty="0"/>
          </a:p>
        </p:txBody>
      </p:sp>
      <p:sp>
        <p:nvSpPr>
          <p:cNvPr id="4" name="Shape 2"/>
          <p:cNvSpPr/>
          <p:nvPr/>
        </p:nvSpPr>
        <p:spPr>
          <a:xfrm>
            <a:off x="731520" y="2651760"/>
            <a:ext cx="1828800" cy="0"/>
          </a:xfrm>
          <a:prstGeom prst="line">
            <a:avLst/>
          </a:prstGeom>
          <a:noFill/>
          <a:ln w="25400">
            <a:solidFill>
              <a:srgbClr val="3B82F6"/>
            </a:solidFill>
            <a:prstDash val="solid"/>
          </a:ln>
        </p:spPr>
      </p:sp>
      <p:sp>
        <p:nvSpPr>
          <p:cNvPr id="5" name="Text 3"/>
          <p:cNvSpPr/>
          <p:nvPr/>
        </p:nvSpPr>
        <p:spPr>
          <a:xfrm>
            <a:off x="731520" y="2926080"/>
            <a:ext cx="7680960" cy="365760"/>
          </a:xfrm>
          <a:prstGeom prst="rect">
            <a:avLst/>
          </a:prstGeom>
          <a:noFill/>
          <a:ln/>
        </p:spPr>
        <p:txBody>
          <a:bodyPr wrap="square" lIns="0" tIns="0" rIns="0" bIns="0" rtlCol="0" anchor="ctr"/>
          <a:lstStyle/>
          <a:p>
            <a:pPr algn="l" indent="0" marL="0">
              <a:buNone/>
            </a:pPr>
            <a:r>
              <a:rPr lang="en-US" sz="1600" b="1" dirty="0">
                <a:solidFill>
                  <a:srgbClr val="E2E8F0"/>
                </a:solidFill>
                <a:latin typeface="Calibri" pitchFamily="34" charset="0"/>
                <a:ea typeface="Calibri" pitchFamily="34" charset="-122"/>
                <a:cs typeface="Calibri" pitchFamily="34" charset="-120"/>
              </a:rPr>
              <a:t>TNDALU — AI Compliance Simulation Lab</a:t>
            </a:r>
            <a:endParaRPr lang="en-US" sz="1600" dirty="0"/>
          </a:p>
        </p:txBody>
      </p:sp>
      <p:sp>
        <p:nvSpPr>
          <p:cNvPr id="6" name="Text 4"/>
          <p:cNvSpPr/>
          <p:nvPr/>
        </p:nvSpPr>
        <p:spPr>
          <a:xfrm>
            <a:off x="731520" y="3383280"/>
            <a:ext cx="7680960" cy="731520"/>
          </a:xfrm>
          <a:prstGeom prst="rect">
            <a:avLst/>
          </a:prstGeom>
          <a:noFill/>
          <a:ln/>
        </p:spPr>
        <p:txBody>
          <a:bodyPr wrap="square" lIns="0" tIns="0" rIns="0" bIns="0"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A teaching environment where students draft DPIAs, design AI-use policies, run regulatory mapping exercises, simulate incident response, and evaluate legal AI tools — with interdisciplinary cohorts across law and computer applications.</a:t>
            </a:r>
            <a:endParaRPr lang="en-US" sz="1200" dirty="0"/>
          </a:p>
        </p:txBody>
      </p:sp>
      <p:sp>
        <p:nvSpPr>
          <p:cNvPr id="7" name="Text 5"/>
          <p:cNvSpPr/>
          <p:nvPr/>
        </p:nvSpPr>
        <p:spPr>
          <a:xfrm>
            <a:off x="731520" y="4480560"/>
            <a:ext cx="7680960" cy="27432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Col. Vivek Vaidyanathan  ·  vivekvai@gmail.com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Techno-Legal Futures: Where AI Governance Meets Career Strategy</dc:title>
  <dc:subject>PptxGenJS Presentation</dc:subject>
  <dc:creator>Col. Vivek Vaidyanathan</dc:creator>
  <cp:lastModifiedBy>Col. Vivek Vaidyanathan</cp:lastModifiedBy>
  <cp:revision>1</cp:revision>
  <dcterms:created xsi:type="dcterms:W3CDTF">2026-07-20T09:02:52Z</dcterms:created>
  <dcterms:modified xsi:type="dcterms:W3CDTF">2026-07-20T09:02:52Z</dcterms:modified>
</cp:coreProperties>
</file>